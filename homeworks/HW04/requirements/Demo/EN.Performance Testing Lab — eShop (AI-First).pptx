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3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79552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E8871E"/>
                </a:solidFill>
                <a:latin typeface="Calibri"/>
              </a:rPr>
              <a:t>SOFTWARE TESTING · AI-FIRST · HANDS-ON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8229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FFFFFF"/>
                </a:solidFill>
                <a:latin typeface="Calibri Light"/>
              </a:rPr>
              <a:t>Performance Testing Lab</a:t>
            </a:r>
          </a:p>
          <a:p>
            <a:pPr algn="l">
              <a:lnSpc>
                <a:spcPct val="100000"/>
              </a:lnSpc>
            </a:pPr>
            <a:r>
              <a:rPr sz="3300" b="1">
                <a:solidFill>
                  <a:srgbClr val="ECF4F5"/>
                </a:solidFill>
                <a:latin typeface="Calibri Light"/>
              </a:rPr>
              <a:t>the eShop SUT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8138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>
                <a:solidFill>
                  <a:srgbClr val="D5E4E7"/>
                </a:solidFill>
                <a:latin typeface="Calibri"/>
              </a:rPr>
              <a:t>Design an exercise and run a real demo — six test types, one k6 suite, one SLO contract, in CI.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794760"/>
            <a:ext cx="954633" cy="365760"/>
          </a:xfrm>
          <a:prstGeom prst="roundRect">
            <a:avLst>
              <a:gd name="adj" fmla="val 50000"/>
            </a:avLst>
          </a:prstGeom>
          <a:solidFill>
            <a:srgbClr val="127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794760"/>
            <a:ext cx="95463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Exercise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77593" y="3794760"/>
            <a:ext cx="874166" cy="365760"/>
          </a:xfrm>
          <a:prstGeom prst="roundRect">
            <a:avLst>
              <a:gd name="adj" fmla="val 50000"/>
            </a:avLst>
          </a:prstGeom>
          <a:solidFill>
            <a:srgbClr val="127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77593" y="3794760"/>
            <a:ext cx="87416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k6 demo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39" y="3794760"/>
            <a:ext cx="954633" cy="365760"/>
          </a:xfrm>
          <a:prstGeom prst="roundRect">
            <a:avLst>
              <a:gd name="adj" fmla="val 50000"/>
            </a:avLst>
          </a:prstGeom>
          <a:solidFill>
            <a:srgbClr val="127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39" y="3794760"/>
            <a:ext cx="95463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SLO gate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72153" y="3794760"/>
            <a:ext cx="954633" cy="365760"/>
          </a:xfrm>
          <a:prstGeom prst="roundRect">
            <a:avLst>
              <a:gd name="adj" fmla="val 50000"/>
            </a:avLst>
          </a:prstGeom>
          <a:solidFill>
            <a:srgbClr val="127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72153" y="3794760"/>
            <a:ext cx="95463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AI-first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34840"/>
            <a:ext cx="8138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ECF4F5"/>
                </a:solidFill>
                <a:latin typeface="Consolas"/>
              </a:rPr>
              <a:t>CS423 · CSC15003 — IT Faculty, HCMUS · runnable with Grafana k6 + a mock eShop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E8871E"/>
                </a:solidFill>
                <a:latin typeface="Calibri"/>
              </a:rPr>
              <a:t>THE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"/>
            <a:ext cx="841248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0A3A45"/>
                </a:solidFill>
                <a:latin typeface="Calibri Light"/>
              </a:rPr>
              <a:t>What you'll do in this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4124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>
                <a:solidFill>
                  <a:srgbClr val="5B6B70"/>
                </a:solidFill>
                <a:latin typeface="Calibri"/>
              </a:rPr>
              <a:t>Take a running eShop, prove how fast, how much and how long it holds — with evidence.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965960"/>
            <a:ext cx="1325880" cy="1005840"/>
          </a:xfrm>
          <a:prstGeom prst="roundRect">
            <a:avLst>
              <a:gd name="adj" fmla="val 12000"/>
            </a:avLst>
          </a:prstGeom>
          <a:solidFill>
            <a:srgbClr val="127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965960"/>
            <a:ext cx="123443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Model</a:t>
            </a:r>
          </a:p>
          <a:p>
            <a:pPr algn="ctr">
              <a:lnSpc>
                <a:spcPct val="95000"/>
              </a:lnSpc>
              <a:spcBef>
                <a:spcPts val="200"/>
              </a:spcBef>
            </a:pPr>
            <a:r>
              <a:rPr sz="830" b="0">
                <a:solidFill>
                  <a:srgbClr val="FFFFFF"/>
                </a:solidFill>
                <a:latin typeface="Calibri"/>
              </a:rPr>
              <a:t>journeys + SLOs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700784" y="2368296"/>
            <a:ext cx="146304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801368" y="1965960"/>
            <a:ext cx="1325880" cy="1005840"/>
          </a:xfrm>
          <a:prstGeom prst="roundRect">
            <a:avLst>
              <a:gd name="adj" fmla="val 12000"/>
            </a:avLst>
          </a:prstGeom>
          <a:solidFill>
            <a:srgbClr val="127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47088" y="1965960"/>
            <a:ext cx="123443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Script</a:t>
            </a:r>
          </a:p>
          <a:p>
            <a:pPr algn="ctr">
              <a:lnSpc>
                <a:spcPct val="95000"/>
              </a:lnSpc>
              <a:spcBef>
                <a:spcPts val="200"/>
              </a:spcBef>
            </a:pPr>
            <a:r>
              <a:rPr sz="830" b="0">
                <a:solidFill>
                  <a:srgbClr val="FFFFFF"/>
                </a:solidFill>
                <a:latin typeface="Calibri"/>
              </a:rPr>
              <a:t>k6 per test type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118104" y="2368296"/>
            <a:ext cx="146304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18688" y="1965960"/>
            <a:ext cx="1325880" cy="1005840"/>
          </a:xfrm>
          <a:prstGeom prst="roundRect">
            <a:avLst>
              <a:gd name="adj" fmla="val 12000"/>
            </a:avLst>
          </a:prstGeom>
          <a:solidFill>
            <a:srgbClr val="127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64408" y="1965960"/>
            <a:ext cx="123443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Run</a:t>
            </a:r>
          </a:p>
          <a:p>
            <a:pPr algn="ctr">
              <a:lnSpc>
                <a:spcPct val="95000"/>
              </a:lnSpc>
              <a:spcBef>
                <a:spcPts val="200"/>
              </a:spcBef>
            </a:pPr>
            <a:r>
              <a:rPr sz="830" b="0">
                <a:solidFill>
                  <a:srgbClr val="FFFFFF"/>
                </a:solidFill>
                <a:latin typeface="Calibri"/>
              </a:rPr>
              <a:t>load→stress→soak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535424" y="2368296"/>
            <a:ext cx="146304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36008" y="1965960"/>
            <a:ext cx="1325880" cy="1005840"/>
          </a:xfrm>
          <a:prstGeom prst="roundRect">
            <a:avLst>
              <a:gd name="adj" fmla="val 12000"/>
            </a:avLst>
          </a:prstGeom>
          <a:solidFill>
            <a:srgbClr val="127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1728" y="1965960"/>
            <a:ext cx="123443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Measure</a:t>
            </a:r>
          </a:p>
          <a:p>
            <a:pPr algn="ctr">
              <a:lnSpc>
                <a:spcPct val="95000"/>
              </a:lnSpc>
              <a:spcBef>
                <a:spcPts val="200"/>
              </a:spcBef>
            </a:pPr>
            <a:r>
              <a:rPr sz="830" b="0">
                <a:solidFill>
                  <a:srgbClr val="FFFFFF"/>
                </a:solidFill>
                <a:latin typeface="Calibri"/>
              </a:rPr>
              <a:t>p95/p99, errors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52744" y="2368296"/>
            <a:ext cx="146304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53328" y="1965960"/>
            <a:ext cx="1325880" cy="1005840"/>
          </a:xfrm>
          <a:prstGeom prst="roundRect">
            <a:avLst>
              <a:gd name="adj" fmla="val 12000"/>
            </a:avLst>
          </a:prstGeom>
          <a:solidFill>
            <a:srgbClr val="127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8" y="1965960"/>
            <a:ext cx="123443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Gate</a:t>
            </a:r>
          </a:p>
          <a:p>
            <a:pPr algn="ctr">
              <a:lnSpc>
                <a:spcPct val="95000"/>
              </a:lnSpc>
              <a:spcBef>
                <a:spcPts val="200"/>
              </a:spcBef>
            </a:pPr>
            <a:r>
              <a:rPr sz="830" b="0">
                <a:solidFill>
                  <a:srgbClr val="FFFFFF"/>
                </a:solidFill>
                <a:latin typeface="Calibri"/>
              </a:rPr>
              <a:t>block in CI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370064" y="2368296"/>
            <a:ext cx="146304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70648" y="1965960"/>
            <a:ext cx="1325880" cy="1005840"/>
          </a:xfrm>
          <a:prstGeom prst="roundRect">
            <a:avLst>
              <a:gd name="adj" fmla="val 12000"/>
            </a:avLst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16368" y="1965960"/>
            <a:ext cx="123443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Report</a:t>
            </a:r>
          </a:p>
          <a:p>
            <a:pPr algn="ctr">
              <a:lnSpc>
                <a:spcPct val="95000"/>
              </a:lnSpc>
              <a:spcBef>
                <a:spcPts val="200"/>
              </a:spcBef>
            </a:pPr>
            <a:r>
              <a:rPr sz="830" b="0">
                <a:solidFill>
                  <a:srgbClr val="FFFFFF"/>
                </a:solidFill>
                <a:latin typeface="Calibri"/>
              </a:rPr>
              <a:t>verdict + AI log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383280"/>
            <a:ext cx="8229600" cy="777240"/>
          </a:xfrm>
          <a:prstGeom prst="roundRect">
            <a:avLst>
              <a:gd name="adj" fmla="val 10000"/>
            </a:avLst>
          </a:prstGeom>
          <a:solidFill>
            <a:srgbClr val="0A3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493008"/>
            <a:ext cx="7772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>
                <a:solidFill>
                  <a:srgbClr val="E8871E"/>
                </a:solidFill>
                <a:latin typeface="Calibri"/>
              </a:rPr>
              <a:t>THE POINT   </a:t>
            </a:r>
            <a:r>
              <a:rPr sz="1030" b="0">
                <a:solidFill>
                  <a:srgbClr val="FFFFFF"/>
                </a:solidFill>
                <a:latin typeface="Calibri"/>
              </a:rPr>
              <a:t>You are given a working k6 suite and a mock eShop. Your job is the thinking — model reality, set the targets, judge pass/fail, and explain the bottleneck. Not to build a load tool.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855464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5B6B70"/>
                </a:solidFill>
                <a:latin typeface="Calibri"/>
              </a:rPr>
              <a:t>CS423 · CSC15003 — Software Testing (AI-First) · Performance Lab — eShop SUT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855464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>
                <a:solidFill>
                  <a:srgbClr val="12707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E8871E"/>
                </a:solidFill>
                <a:latin typeface="Calibri"/>
              </a:rPr>
              <a:t>THE SUT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"/>
            <a:ext cx="841248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0A3A45"/>
                </a:solidFill>
                <a:latin typeface="Calibri Light"/>
              </a:rPr>
              <a:t>eShop — the system under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4124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>
                <a:solidFill>
                  <a:srgbClr val="5B6B70"/>
                </a:solidFill>
                <a:latin typeface="Calibri"/>
              </a:rPr>
              <a:t>A REST e-commerce API you run local/Docker; the suite talks to it via BASE_URL.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8229600" cy="365760"/>
          </a:xfrm>
          <a:prstGeom prst="roundRect">
            <a:avLst>
              <a:gd name="adj" fmla="val 3000"/>
            </a:avLst>
          </a:prstGeom>
          <a:solidFill>
            <a:srgbClr val="0A3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91640"/>
            <a:ext cx="9509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4207" y="1691640"/>
            <a:ext cx="30540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Endpoint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64608" y="1691640"/>
            <a:ext cx="3785615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Purpose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57400"/>
            <a:ext cx="8229600" cy="365760"/>
          </a:xfrm>
          <a:prstGeom prst="rect">
            <a:avLst/>
          </a:prstGeom>
          <a:solidFill>
            <a:srgbClr val="ED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57400"/>
            <a:ext cx="9509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19" b="1">
                <a:solidFill>
                  <a:srgbClr val="12707F"/>
                </a:solidFill>
                <a:latin typeface="Consolas"/>
              </a:rPr>
              <a:t>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4207" y="2057400"/>
            <a:ext cx="30540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19" b="0">
                <a:solidFill>
                  <a:srgbClr val="2B3A3F"/>
                </a:solidFill>
                <a:latin typeface="Consolas"/>
              </a:rPr>
              <a:t>/auth/login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64608" y="2057400"/>
            <a:ext cx="3785615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19" b="0">
                <a:solidFill>
                  <a:srgbClr val="2B3A3F"/>
                </a:solidFill>
                <a:latin typeface="Consolas"/>
              </a:rPr>
              <a:t>returns { token 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423160"/>
            <a:ext cx="82296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423160"/>
            <a:ext cx="9509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19" b="1">
                <a:solidFill>
                  <a:srgbClr val="12707F"/>
                </a:solidFill>
                <a:latin typeface="Consolas"/>
              </a:rPr>
              <a:t>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4207" y="2423160"/>
            <a:ext cx="30540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19" b="0">
                <a:solidFill>
                  <a:srgbClr val="2B3A3F"/>
                </a:solidFill>
                <a:latin typeface="Consolas"/>
              </a:rPr>
              <a:t>/products?page=&amp;size=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8" y="2423160"/>
            <a:ext cx="3785615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19" b="0">
                <a:solidFill>
                  <a:srgbClr val="2B3A3F"/>
                </a:solidFill>
                <a:latin typeface="Consolas"/>
              </a:rPr>
              <a:t>catalog list { items[] 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solidFill>
            <a:srgbClr val="ED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2788920"/>
            <a:ext cx="9509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19" b="1">
                <a:solidFill>
                  <a:srgbClr val="12707F"/>
                </a:solidFill>
                <a:latin typeface="Consolas"/>
              </a:rPr>
              <a:t>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7" y="2788920"/>
            <a:ext cx="30540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19" b="0">
                <a:solidFill>
                  <a:srgbClr val="2B3A3F"/>
                </a:solidFill>
                <a:latin typeface="Consolas"/>
              </a:rPr>
              <a:t>/products/{id}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64608" y="2788920"/>
            <a:ext cx="3785615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19" b="0">
                <a:solidFill>
                  <a:srgbClr val="2B3A3F"/>
                </a:solidFill>
                <a:latin typeface="Consolas"/>
              </a:rPr>
              <a:t>product detail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154679"/>
            <a:ext cx="82296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3154679"/>
            <a:ext cx="9509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19" b="1">
                <a:solidFill>
                  <a:srgbClr val="12707F"/>
                </a:solidFill>
                <a:latin typeface="Consolas"/>
              </a:rPr>
              <a:t>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64207" y="3154679"/>
            <a:ext cx="30540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19" b="0">
                <a:solidFill>
                  <a:srgbClr val="2B3A3F"/>
                </a:solidFill>
                <a:latin typeface="Consolas"/>
              </a:rPr>
              <a:t>/products/search?q=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4608" y="3154679"/>
            <a:ext cx="3785615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19" b="0">
                <a:solidFill>
                  <a:srgbClr val="2B3A3F"/>
                </a:solidFill>
                <a:latin typeface="Consolas"/>
              </a:rPr>
              <a:t>search results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520439"/>
            <a:ext cx="8229600" cy="365760"/>
          </a:xfrm>
          <a:prstGeom prst="rect">
            <a:avLst/>
          </a:prstGeom>
          <a:solidFill>
            <a:srgbClr val="ED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3520439"/>
            <a:ext cx="9509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19" b="1">
                <a:solidFill>
                  <a:srgbClr val="12707F"/>
                </a:solidFill>
                <a:latin typeface="Consolas"/>
              </a:rPr>
              <a:t>POST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64207" y="3520439"/>
            <a:ext cx="30540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19" b="0">
                <a:solidFill>
                  <a:srgbClr val="2B3A3F"/>
                </a:solidFill>
                <a:latin typeface="Consolas"/>
              </a:rPr>
              <a:t>/cart/items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64608" y="3520439"/>
            <a:ext cx="3785615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19" b="0">
                <a:solidFill>
                  <a:srgbClr val="2B3A3F"/>
                </a:solidFill>
                <a:latin typeface="Consolas"/>
              </a:rPr>
              <a:t>add to cart (auth)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3886200"/>
            <a:ext cx="9509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19" b="1">
                <a:solidFill>
                  <a:srgbClr val="12707F"/>
                </a:solidFill>
                <a:latin typeface="Consolas"/>
              </a:rPr>
              <a:t>POST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64207" y="3886200"/>
            <a:ext cx="30540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19" b="0">
                <a:solidFill>
                  <a:srgbClr val="2B3A3F"/>
                </a:solidFill>
                <a:latin typeface="Consolas"/>
              </a:rPr>
              <a:t>/checkout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64608" y="3886200"/>
            <a:ext cx="3785615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19" b="0">
                <a:solidFill>
                  <a:srgbClr val="2B3A3F"/>
                </a:solidFill>
                <a:latin typeface="Consolas"/>
              </a:rPr>
              <a:t>place order → { orderId }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343400"/>
            <a:ext cx="8229600" cy="457200"/>
          </a:xfrm>
          <a:prstGeom prst="roundRect">
            <a:avLst>
              <a:gd name="adj" fmla="val 14000"/>
            </a:avLst>
          </a:prstGeom>
          <a:solidFill>
            <a:srgbClr val="0A3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4343400"/>
            <a:ext cx="7772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E8871E"/>
                </a:solidFill>
                <a:latin typeface="Calibri"/>
              </a:rPr>
              <a:t>NO eShop? </a:t>
            </a:r>
            <a:r>
              <a:rPr sz="1000" b="0">
                <a:solidFill>
                  <a:srgbClr val="FFFFFF"/>
                </a:solidFill>
                <a:latin typeface="Calibri"/>
              </a:rPr>
              <a:t>a mock server (node mock/server.js) implements this contract, adds latency and sheds load (503) — the demo runs with zero setup.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855464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5B6B70"/>
                </a:solidFill>
                <a:latin typeface="Calibri"/>
              </a:rPr>
              <a:t>CS423 · CSC15003 — Software Testing (AI-First) · Performance Lab — eShop SUT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855464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>
                <a:solidFill>
                  <a:srgbClr val="12707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E8871E"/>
                </a:solidFill>
                <a:latin typeface="Calibri"/>
              </a:rPr>
              <a:t>THE WORKLOAD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"/>
            <a:ext cx="841248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0A3A45"/>
                </a:solidFill>
                <a:latin typeface="Calibri Light"/>
              </a:rPr>
              <a:t>One shopping journey, reused by every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4124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>
                <a:solidFill>
                  <a:srgbClr val="5B6B70"/>
                </a:solidFill>
                <a:latin typeface="Calibri"/>
              </a:rPr>
              <a:t>Each test type drives the same realistic journey — only the load shape changes.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874519"/>
            <a:ext cx="1572768" cy="1051560"/>
          </a:xfrm>
          <a:prstGeom prst="roundRect">
            <a:avLst>
              <a:gd name="adj" fmla="val 12000"/>
            </a:avLst>
          </a:prstGeom>
          <a:solidFill>
            <a:srgbClr val="127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874519"/>
            <a:ext cx="1481328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Login</a:t>
            </a:r>
          </a:p>
          <a:p>
            <a:pPr algn="ctr">
              <a:lnSpc>
                <a:spcPct val="95000"/>
              </a:lnSpc>
              <a:spcBef>
                <a:spcPts val="200"/>
              </a:spcBef>
            </a:pPr>
            <a:r>
              <a:rPr sz="830" b="0">
                <a:solidFill>
                  <a:srgbClr val="FFFFFF"/>
                </a:solidFill>
                <a:latin typeface="Calibri"/>
              </a:rPr>
              <a:t>POST /auth/login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929384" y="2295144"/>
            <a:ext cx="128016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993392" y="1874519"/>
            <a:ext cx="1572768" cy="1051560"/>
          </a:xfrm>
          <a:prstGeom prst="roundRect">
            <a:avLst>
              <a:gd name="adj" fmla="val 12000"/>
            </a:avLst>
          </a:prstGeom>
          <a:solidFill>
            <a:srgbClr val="127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39112" y="1874519"/>
            <a:ext cx="1481328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Browse</a:t>
            </a:r>
          </a:p>
          <a:p>
            <a:pPr algn="ctr">
              <a:lnSpc>
                <a:spcPct val="95000"/>
              </a:lnSpc>
              <a:spcBef>
                <a:spcPts val="200"/>
              </a:spcBef>
            </a:pPr>
            <a:r>
              <a:rPr sz="830" b="0">
                <a:solidFill>
                  <a:srgbClr val="FFFFFF"/>
                </a:solidFill>
                <a:latin typeface="Calibri"/>
              </a:rPr>
              <a:t>GET /products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557016" y="2295144"/>
            <a:ext cx="128016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21024" y="1874519"/>
            <a:ext cx="1572768" cy="1051560"/>
          </a:xfrm>
          <a:prstGeom prst="roundRect">
            <a:avLst>
              <a:gd name="adj" fmla="val 12000"/>
            </a:avLst>
          </a:prstGeom>
          <a:solidFill>
            <a:srgbClr val="127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66744" y="1874519"/>
            <a:ext cx="1481328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Search</a:t>
            </a:r>
          </a:p>
          <a:p>
            <a:pPr algn="ctr">
              <a:lnSpc>
                <a:spcPct val="95000"/>
              </a:lnSpc>
              <a:spcBef>
                <a:spcPts val="200"/>
              </a:spcBef>
            </a:pPr>
            <a:r>
              <a:rPr sz="830" b="0">
                <a:solidFill>
                  <a:srgbClr val="FFFFFF"/>
                </a:solidFill>
                <a:latin typeface="Calibri"/>
              </a:rPr>
              <a:t>GET /search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184648" y="2295144"/>
            <a:ext cx="128016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248656" y="1874519"/>
            <a:ext cx="1572768" cy="1051560"/>
          </a:xfrm>
          <a:prstGeom prst="roundRect">
            <a:avLst>
              <a:gd name="adj" fmla="val 12000"/>
            </a:avLst>
          </a:prstGeom>
          <a:solidFill>
            <a:srgbClr val="127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94376" y="1874519"/>
            <a:ext cx="1481328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Add cart</a:t>
            </a:r>
          </a:p>
          <a:p>
            <a:pPr algn="ctr">
              <a:lnSpc>
                <a:spcPct val="95000"/>
              </a:lnSpc>
              <a:spcBef>
                <a:spcPts val="200"/>
              </a:spcBef>
            </a:pPr>
            <a:r>
              <a:rPr sz="830" b="0">
                <a:solidFill>
                  <a:srgbClr val="FFFFFF"/>
                </a:solidFill>
                <a:latin typeface="Calibri"/>
              </a:rPr>
              <a:t>POST /cart/items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812280" y="2295144"/>
            <a:ext cx="128016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76288" y="1874519"/>
            <a:ext cx="1572768" cy="1051560"/>
          </a:xfrm>
          <a:prstGeom prst="roundRect">
            <a:avLst>
              <a:gd name="adj" fmla="val 12000"/>
            </a:avLst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22008" y="1874519"/>
            <a:ext cx="1481328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Checkout</a:t>
            </a:r>
          </a:p>
          <a:p>
            <a:pPr algn="ctr">
              <a:lnSpc>
                <a:spcPct val="95000"/>
              </a:lnSpc>
              <a:spcBef>
                <a:spcPts val="200"/>
              </a:spcBef>
            </a:pPr>
            <a:r>
              <a:rPr sz="830" b="0">
                <a:solidFill>
                  <a:srgbClr val="FFFFFF"/>
                </a:solidFill>
                <a:latin typeface="Calibri"/>
              </a:rPr>
              <a:t>POST /checkout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337560"/>
            <a:ext cx="81381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100" b="1">
                <a:solidFill>
                  <a:srgbClr val="12707F"/>
                </a:solidFill>
                <a:latin typeface="Calibri"/>
              </a:rPr>
              <a:t>›  </a:t>
            </a:r>
            <a:r>
              <a:rPr sz="1100" b="1">
                <a:solidFill>
                  <a:srgbClr val="0A3A45"/>
                </a:solidFill>
                <a:latin typeface="Calibri"/>
              </a:rPr>
              <a:t>Think-time — </a:t>
            </a:r>
            <a:r>
              <a:rPr sz="1100" b="0">
                <a:solidFill>
                  <a:srgbClr val="2B3A3F"/>
                </a:solidFill>
                <a:latin typeface="Calibri"/>
              </a:rPr>
              <a:t>1–3 s pause between actions; real users don't machine-gun requests.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100" b="1">
                <a:solidFill>
                  <a:srgbClr val="12707F"/>
                </a:solidFill>
                <a:latin typeface="Calibri"/>
              </a:rPr>
              <a:t>›  </a:t>
            </a:r>
            <a:r>
              <a:rPr sz="1100" b="1">
                <a:solidFill>
                  <a:srgbClr val="0A3A45"/>
                </a:solidFill>
                <a:latin typeface="Calibri"/>
              </a:rPr>
              <a:t>Realistic data — </a:t>
            </a:r>
            <a:r>
              <a:rPr sz="1100" b="0">
                <a:solidFill>
                  <a:srgbClr val="2B3A3F"/>
                </a:solidFill>
                <a:latin typeface="Calibri"/>
              </a:rPr>
              <a:t>varied search terms and products, not one uniform request.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100" b="1">
                <a:solidFill>
                  <a:srgbClr val="12707F"/>
                </a:solidFill>
                <a:latin typeface="Calibri"/>
              </a:rPr>
              <a:t>›  </a:t>
            </a:r>
            <a:r>
              <a:rPr sz="1100" b="1">
                <a:solidFill>
                  <a:srgbClr val="0A3A45"/>
                </a:solidFill>
                <a:latin typeface="Calibri"/>
              </a:rPr>
              <a:t>Tagged steps — </a:t>
            </a:r>
            <a:r>
              <a:rPr sz="1100" b="0">
                <a:solidFill>
                  <a:srgbClr val="2B3A3F"/>
                </a:solidFill>
                <a:latin typeface="Calibri"/>
              </a:rPr>
              <a:t>every request carries a step tag, so checkout gets its own latency budget.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55464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5B6B70"/>
                </a:solidFill>
                <a:latin typeface="Calibri"/>
              </a:rPr>
              <a:t>CS423 · CSC15003 — Software Testing (AI-First) · Performance Lab — eShop SUT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855464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>
                <a:solidFill>
                  <a:srgbClr val="12707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E8871E"/>
                </a:solidFill>
                <a:latin typeface="Calibri"/>
              </a:rPr>
              <a:t>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"/>
            <a:ext cx="841248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0A3A45"/>
                </a:solidFill>
                <a:latin typeface="Calibri Light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4124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>
                <a:solidFill>
                  <a:srgbClr val="5B6B70"/>
                </a:solidFill>
                <a:latin typeface="Calibri"/>
              </a:rPr>
              <a:t>Six skills you'll walk away with — each maps to a task and a rubric 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3977639" cy="822960"/>
          </a:xfrm>
          <a:prstGeom prst="roundRect">
            <a:avLst>
              <a:gd name="adj" fmla="val 6000"/>
            </a:avLst>
          </a:prstGeom>
          <a:solidFill>
            <a:srgbClr val="ED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556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2707F"/>
                </a:solidFill>
                <a:latin typeface="Calibri"/>
              </a:rPr>
              <a:t>Requirements → SLOs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66544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2B3A3F"/>
                </a:solidFill>
                <a:latin typeface="Calibri"/>
              </a:rPr>
              <a:t>Turn 'be fast' into p95/p99/error-rate targets a test can enforce.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645920"/>
            <a:ext cx="3977639" cy="822960"/>
          </a:xfrm>
          <a:prstGeom prst="roundRect">
            <a:avLst>
              <a:gd name="adj" fmla="val 6000"/>
            </a:avLst>
          </a:prstGeom>
          <a:solidFill>
            <a:srgbClr val="ED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7556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2707F"/>
                </a:solidFill>
                <a:latin typeface="Calibri"/>
              </a:rPr>
              <a:t>Model a workload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066544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2B3A3F"/>
                </a:solidFill>
                <a:latin typeface="Calibri"/>
              </a:rPr>
              <a:t>A journey mix with think-time and real data — not robots on one endpoint.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578608"/>
            <a:ext cx="3977639" cy="822960"/>
          </a:xfrm>
          <a:prstGeom prst="roundRect">
            <a:avLst>
              <a:gd name="adj" fmla="val 6000"/>
            </a:avLst>
          </a:prstGeom>
          <a:solidFill>
            <a:srgbClr val="ED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8833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2707F"/>
                </a:solidFill>
                <a:latin typeface="Calibri"/>
              </a:rPr>
              <a:t>Six test types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99232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2B3A3F"/>
                </a:solidFill>
                <a:latin typeface="Calibri"/>
              </a:rPr>
              <a:t>Load, stress, spike, soak, breakpoint, scalability — each answers a different question.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2578608"/>
            <a:ext cx="3977639" cy="822960"/>
          </a:xfrm>
          <a:prstGeom prst="roundRect">
            <a:avLst>
              <a:gd name="adj" fmla="val 6000"/>
            </a:avLst>
          </a:prstGeom>
          <a:solidFill>
            <a:srgbClr val="ED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268833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2707F"/>
                </a:solidFill>
                <a:latin typeface="Calibri"/>
              </a:rPr>
              <a:t>Read distributions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999232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2B3A3F"/>
                </a:solidFill>
                <a:latin typeface="Calibri"/>
              </a:rPr>
              <a:t>Percentiles and trends, correlated with resource saturation — not the mean.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511296"/>
            <a:ext cx="3977639" cy="822960"/>
          </a:xfrm>
          <a:prstGeom prst="roundRect">
            <a:avLst>
              <a:gd name="adj" fmla="val 6000"/>
            </a:avLst>
          </a:prstGeom>
          <a:solidFill>
            <a:srgbClr val="ED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62102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2707F"/>
                </a:solidFill>
                <a:latin typeface="Calibri"/>
              </a:rPr>
              <a:t>Shift-left in CI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9319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2B3A3F"/>
                </a:solidFill>
                <a:latin typeface="Calibri"/>
              </a:rPr>
              <a:t>A performance gate that blocks a regression the day it lands.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3511296"/>
            <a:ext cx="3977639" cy="822960"/>
          </a:xfrm>
          <a:prstGeom prst="roundRect">
            <a:avLst>
              <a:gd name="adj" fmla="val 6000"/>
            </a:avLst>
          </a:prstGeom>
          <a:solidFill>
            <a:srgbClr val="ED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362102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2707F"/>
                </a:solidFill>
                <a:latin typeface="Calibri"/>
              </a:rPr>
              <a:t>AI-first judgement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9319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2B3A3F"/>
                </a:solidFill>
                <a:latin typeface="Calibri"/>
              </a:rPr>
              <a:t>AI drafts and explains; you set targets, pick the model and decide.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855464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5B6B70"/>
                </a:solidFill>
                <a:latin typeface="Calibri"/>
              </a:rPr>
              <a:t>CS423 · CSC15003 — Software Testing (AI-First) · Performance Lab — eShop SUT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855464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>
                <a:solidFill>
                  <a:srgbClr val="12707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E8871E"/>
                </a:solidFill>
                <a:latin typeface="Calibri"/>
              </a:rPr>
              <a:t>THE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"/>
            <a:ext cx="841248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0A3A45"/>
                </a:solidFill>
                <a:latin typeface="Calibri Light"/>
              </a:rPr>
              <a:t>SLOs — turn 'fast' into pass/fail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4124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>
                <a:solidFill>
                  <a:srgbClr val="5B6B70"/>
                </a:solidFill>
                <a:latin typeface="Calibri"/>
              </a:rPr>
              <a:t>These thresholds live in config.js; a breach makes k6 exit non-zero and fail CI.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3977639" cy="2743200"/>
          </a:xfrm>
          <a:prstGeom prst="roundRect">
            <a:avLst>
              <a:gd name="adj" fmla="val 6000"/>
            </a:avLst>
          </a:prstGeom>
          <a:solidFill>
            <a:srgbClr val="ED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83664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E8871E"/>
                </a:solidFill>
                <a:latin typeface="Calibri"/>
              </a:rPr>
              <a:t>THE TARGETS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86000"/>
            <a:ext cx="35661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040" b="1">
                <a:solidFill>
                  <a:srgbClr val="12707F"/>
                </a:solidFill>
                <a:latin typeface="Calibri"/>
              </a:rPr>
              <a:t>›  </a:t>
            </a:r>
            <a:r>
              <a:rPr sz="1040" b="1">
                <a:solidFill>
                  <a:srgbClr val="0A3A45"/>
                </a:solidFill>
                <a:latin typeface="Calibri"/>
              </a:rPr>
              <a:t>p95 latency — </a:t>
            </a:r>
            <a:r>
              <a:rPr sz="1040" b="0">
                <a:solidFill>
                  <a:srgbClr val="2B3A3F"/>
                </a:solidFill>
                <a:latin typeface="Calibri"/>
              </a:rPr>
              <a:t>&lt; 800 ms (95% of requests).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040" b="1">
                <a:solidFill>
                  <a:srgbClr val="12707F"/>
                </a:solidFill>
                <a:latin typeface="Calibri"/>
              </a:rPr>
              <a:t>›  </a:t>
            </a:r>
            <a:r>
              <a:rPr sz="1040" b="1">
                <a:solidFill>
                  <a:srgbClr val="0A3A45"/>
                </a:solidFill>
                <a:latin typeface="Calibri"/>
              </a:rPr>
              <a:t>p99 latency — </a:t>
            </a:r>
            <a:r>
              <a:rPr sz="1040" b="0">
                <a:solidFill>
                  <a:srgbClr val="2B3A3F"/>
                </a:solidFill>
                <a:latin typeface="Calibri"/>
              </a:rPr>
              <a:t>&lt; 1500 ms (the tail that pages you).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040" b="1">
                <a:solidFill>
                  <a:srgbClr val="12707F"/>
                </a:solidFill>
                <a:latin typeface="Calibri"/>
              </a:rPr>
              <a:t>›  </a:t>
            </a:r>
            <a:r>
              <a:rPr sz="1040" b="1">
                <a:solidFill>
                  <a:srgbClr val="0A3A45"/>
                </a:solidFill>
                <a:latin typeface="Calibri"/>
              </a:rPr>
              <a:t>Checkout p95 — </a:t>
            </a:r>
            <a:r>
              <a:rPr sz="1040" b="0">
                <a:solidFill>
                  <a:srgbClr val="2B3A3F"/>
                </a:solidFill>
                <a:latin typeface="Calibri"/>
              </a:rPr>
              <a:t>&lt; 1200 ms (heavier path, own budget).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040" b="1">
                <a:solidFill>
                  <a:srgbClr val="12707F"/>
                </a:solidFill>
                <a:latin typeface="Calibri"/>
              </a:rPr>
              <a:t>›  </a:t>
            </a:r>
            <a:r>
              <a:rPr sz="1040" b="1">
                <a:solidFill>
                  <a:srgbClr val="0A3A45"/>
                </a:solidFill>
                <a:latin typeface="Calibri"/>
              </a:rPr>
              <a:t>Error rate — </a:t>
            </a:r>
            <a:r>
              <a:rPr sz="1040" b="0">
                <a:solidFill>
                  <a:srgbClr val="2B3A3F"/>
                </a:solidFill>
                <a:latin typeface="Calibri"/>
              </a:rPr>
              <a:t>&lt; 1% failed requests.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040" b="1">
                <a:solidFill>
                  <a:srgbClr val="12707F"/>
                </a:solidFill>
                <a:latin typeface="Calibri"/>
              </a:rPr>
              <a:t>›  </a:t>
            </a:r>
            <a:r>
              <a:rPr sz="1040" b="1">
                <a:solidFill>
                  <a:srgbClr val="0A3A45"/>
                </a:solidFill>
                <a:latin typeface="Calibri"/>
              </a:rPr>
              <a:t>Checks — </a:t>
            </a:r>
            <a:r>
              <a:rPr sz="1040" b="0">
                <a:solidFill>
                  <a:srgbClr val="2B3A3F"/>
                </a:solidFill>
                <a:latin typeface="Calibri"/>
              </a:rPr>
              <a:t>&gt; 99% functional pass under load.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1417320"/>
            <a:ext cx="39776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E8871E"/>
                </a:solidFill>
                <a:latin typeface="Calibri"/>
              </a:rPr>
              <a:t>SLOs AS 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1691640"/>
            <a:ext cx="3977639" cy="2743200"/>
          </a:xfrm>
          <a:prstGeom prst="roundRect">
            <a:avLst>
              <a:gd name="adj" fmla="val 4000"/>
            </a:avLst>
          </a:prstGeom>
          <a:solidFill>
            <a:srgbClr val="0E2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819656"/>
            <a:ext cx="3630168" cy="2505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7FB7A8"/>
                </a:solidFill>
                <a:latin typeface="Consolas"/>
              </a:rPr>
              <a:t>// config.js — thresholds from the SLOs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6F0F1"/>
                </a:solidFill>
                <a:latin typeface="Consolas"/>
              </a:rPr>
              <a:t>export const thresholds =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6F0F1"/>
                </a:solidFill>
                <a:latin typeface="Consolas"/>
              </a:rPr>
              <a:t>  http_req_failed:["rate&lt;0.01"],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6F0F1"/>
                </a:solidFill>
                <a:latin typeface="Consolas"/>
              </a:rPr>
              <a:t>  http_req_duration:[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6F0F1"/>
                </a:solidFill>
                <a:latin typeface="Consolas"/>
              </a:rPr>
              <a:t>    "p(95)&lt;800","p(99)&lt;1500"],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6F0F1"/>
                </a:solidFill>
                <a:latin typeface="Consolas"/>
              </a:rPr>
              <a:t>  "http_req_duration{step:checkout}":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6F0F1"/>
                </a:solidFill>
                <a:latin typeface="Consolas"/>
              </a:rPr>
              <a:t>    ["p(95)&lt;1200"],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6F0F1"/>
                </a:solidFill>
                <a:latin typeface="Consolas"/>
              </a:rPr>
              <a:t>  checks:["rate&gt;0.99"],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6F0F1"/>
                </a:solidFill>
                <a:latin typeface="Consolas"/>
              </a:rPr>
              <a:t>};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7FB7A8"/>
                </a:solidFill>
                <a:latin typeface="Consolas"/>
              </a:rPr>
              <a:t>// breach -&gt; exit 1 -&gt; build fails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855464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5B6B70"/>
                </a:solidFill>
                <a:latin typeface="Calibri"/>
              </a:rPr>
              <a:t>CS423 · CSC15003 — Software Testing (AI-First) · Performance Lab — eShop SUT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4855464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>
                <a:solidFill>
                  <a:srgbClr val="12707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E8871E"/>
                </a:solidFill>
                <a:latin typeface="Calibri"/>
              </a:rPr>
              <a:t>MODEL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"/>
            <a:ext cx="841248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0A3A45"/>
                </a:solidFill>
                <a:latin typeface="Calibri Light"/>
              </a:rPr>
              <a:t>The workload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4124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>
                <a:solidFill>
                  <a:srgbClr val="5B6B70"/>
                </a:solidFill>
                <a:latin typeface="Calibri"/>
              </a:rPr>
              <a:t>Weight the journeys like production — most visitors browse, few check 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8229600" cy="384048"/>
          </a:xfrm>
          <a:prstGeom prst="roundRect">
            <a:avLst>
              <a:gd name="adj" fmla="val 3000"/>
            </a:avLst>
          </a:prstGeom>
          <a:solidFill>
            <a:srgbClr val="0A3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1737360"/>
            <a:ext cx="356615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Journey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34255" y="1737360"/>
            <a:ext cx="1005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Share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2976" y="1737360"/>
            <a:ext cx="3108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Why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21408"/>
            <a:ext cx="8229600" cy="457200"/>
          </a:xfrm>
          <a:prstGeom prst="rect">
            <a:avLst/>
          </a:prstGeom>
          <a:solidFill>
            <a:srgbClr val="ED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2121408"/>
            <a:ext cx="356615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2B3A3F"/>
                </a:solidFill>
                <a:latin typeface="Calibri"/>
              </a:rPr>
              <a:t>Browse + search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34255" y="2121408"/>
            <a:ext cx="1005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2707F"/>
                </a:solidFill>
                <a:latin typeface="Calibri"/>
              </a:rPr>
              <a:t>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22976" y="2121408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2B3A3F"/>
                </a:solidFill>
                <a:latin typeface="Calibri"/>
              </a:rPr>
              <a:t>most visitors never buy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78608"/>
            <a:ext cx="82296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" y="2578608"/>
            <a:ext cx="356615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2B3A3F"/>
                </a:solidFill>
                <a:latin typeface="Calibri"/>
              </a:rPr>
              <a:t>Browse → cart → abandon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5" y="2578608"/>
            <a:ext cx="1005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2707F"/>
                </a:solidFill>
                <a:latin typeface="Calibri"/>
              </a:rPr>
              <a:t>25%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22976" y="2578608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2B3A3F"/>
                </a:solidFill>
                <a:latin typeface="Calibri"/>
              </a:rPr>
              <a:t>cart abandonment is normal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035808"/>
            <a:ext cx="8229600" cy="457200"/>
          </a:xfrm>
          <a:prstGeom prst="rect">
            <a:avLst/>
          </a:prstGeom>
          <a:solidFill>
            <a:srgbClr val="ED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3035808"/>
            <a:ext cx="356615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2B3A3F"/>
                </a:solidFill>
                <a:latin typeface="Calibri"/>
              </a:rPr>
              <a:t>Full checkout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4255" y="3035808"/>
            <a:ext cx="1005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2707F"/>
                </a:solidFill>
                <a:latin typeface="Calibri"/>
              </a:rPr>
              <a:t>15%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22976" y="3035808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2B3A3F"/>
                </a:solidFill>
                <a:latin typeface="Calibri"/>
              </a:rPr>
              <a:t>the money path — its own SLO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977639"/>
            <a:ext cx="8229600" cy="640080"/>
          </a:xfrm>
          <a:prstGeom prst="roundRect">
            <a:avLst>
              <a:gd name="adj" fmla="val 12000"/>
            </a:avLst>
          </a:prstGeom>
          <a:solidFill>
            <a:srgbClr val="0A3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977639"/>
            <a:ext cx="7772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E8871E"/>
                </a:solidFill>
                <a:latin typeface="Calibri"/>
              </a:rPr>
              <a:t>YOUR CALL   </a:t>
            </a:r>
            <a:r>
              <a:rPr sz="1030" b="0">
                <a:solidFill>
                  <a:srgbClr val="FFFFFF"/>
                </a:solidFill>
                <a:latin typeface="Calibri"/>
              </a:rPr>
              <a:t>These are a starting point. Justify any change from your own traffic assumptions — the model is a graded decision, not a given.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855464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5B6B70"/>
                </a:solidFill>
                <a:latin typeface="Calibri"/>
              </a:rPr>
              <a:t>CS423 · CSC15003 — Software Testing (AI-First) · Performance Lab — eShop SUT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855464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>
                <a:solidFill>
                  <a:srgbClr val="12707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E8871E"/>
                </a:solidFill>
                <a:latin typeface="Calibri"/>
              </a:rPr>
              <a:t>WHAT YOU'RE GIVEN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"/>
            <a:ext cx="841248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0A3A45"/>
                </a:solidFill>
                <a:latin typeface="Calibri Light"/>
              </a:rPr>
              <a:t>The demo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4124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>
                <a:solidFill>
                  <a:srgbClr val="5B6B70"/>
                </a:solidFill>
                <a:latin typeface="Calibri"/>
              </a:rPr>
              <a:t>A ready-to-run k6 project — start here, don't reinvent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E8871E"/>
                </a:solidFill>
                <a:latin typeface="Calibri"/>
              </a:rPr>
              <a:t>PROJECT LAYOUT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4754880" cy="2788920"/>
          </a:xfrm>
          <a:prstGeom prst="roundRect">
            <a:avLst>
              <a:gd name="adj" fmla="val 4000"/>
            </a:avLst>
          </a:prstGeom>
          <a:solidFill>
            <a:srgbClr val="0E2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73936"/>
            <a:ext cx="4407408" cy="2551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6F0F1"/>
                </a:solidFill>
                <a:latin typeface="Consolas"/>
              </a:rPr>
              <a:t>eshop-perf-lab/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6F0F1"/>
                </a:solidFill>
                <a:latin typeface="Consolas"/>
              </a:rPr>
              <a:t>├─ k6/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8871E"/>
                </a:solidFill>
                <a:latin typeface="Consolas"/>
              </a:rPr>
              <a:t>│  ├─ config.js        ← BASE_URL, SLOs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8871E"/>
                </a:solidFill>
                <a:latin typeface="Consolas"/>
              </a:rPr>
              <a:t>│  ├─ lib/journey.js   ← shared journey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6F0F1"/>
                </a:solidFill>
                <a:latin typeface="Consolas"/>
              </a:rPr>
              <a:t>│  ├─ 00-smoke.js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6F0F1"/>
                </a:solidFill>
                <a:latin typeface="Consolas"/>
              </a:rPr>
              <a:t>│  ├─ 01-load.js   02-stress.js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6F0F1"/>
                </a:solidFill>
                <a:latin typeface="Consolas"/>
              </a:rPr>
              <a:t>│  ├─ 03-spike.js  04-soak.js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6F0F1"/>
                </a:solidFill>
                <a:latin typeface="Consolas"/>
              </a:rPr>
              <a:t>│  ├─ 05-breakpoint.js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8871E"/>
                </a:solidFill>
                <a:latin typeface="Consolas"/>
              </a:rPr>
              <a:t>│  ├─ ci-gate.js       ← CI gate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6F0F1"/>
                </a:solidFill>
                <a:latin typeface="Consolas"/>
              </a:rPr>
              <a:t>│  └─ .github/workflows/perf.yml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8871E"/>
                </a:solidFill>
                <a:latin typeface="Consolas"/>
              </a:rPr>
              <a:t>└─ mock/server.js      ← fake eShop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78308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E8871E"/>
                </a:solidFill>
                <a:latin typeface="Calibri"/>
              </a:rPr>
              <a:t>HOW TO 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194560"/>
            <a:ext cx="31089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980" b="1">
                <a:solidFill>
                  <a:srgbClr val="12707F"/>
                </a:solidFill>
                <a:latin typeface="Calibri"/>
              </a:rPr>
              <a:t>›  </a:t>
            </a:r>
            <a:r>
              <a:rPr sz="980" b="1">
                <a:solidFill>
                  <a:srgbClr val="0A3A45"/>
                </a:solidFill>
                <a:latin typeface="Calibri"/>
              </a:rPr>
              <a:t>Start the SUT — </a:t>
            </a:r>
            <a:r>
              <a:rPr sz="980" b="0">
                <a:solidFill>
                  <a:srgbClr val="2B3A3F"/>
                </a:solidFill>
                <a:latin typeface="Calibri"/>
              </a:rPr>
              <a:t>node mock/server.js (or your Docker eShop).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980" b="1">
                <a:solidFill>
                  <a:srgbClr val="12707F"/>
                </a:solidFill>
                <a:latin typeface="Calibri"/>
              </a:rPr>
              <a:t>›  </a:t>
            </a:r>
            <a:r>
              <a:rPr sz="980" b="1">
                <a:solidFill>
                  <a:srgbClr val="0A3A45"/>
                </a:solidFill>
                <a:latin typeface="Calibri"/>
              </a:rPr>
              <a:t>Smoke first — </a:t>
            </a:r>
            <a:r>
              <a:rPr sz="980" b="0">
                <a:solidFill>
                  <a:srgbClr val="2B3A3F"/>
                </a:solidFill>
                <a:latin typeface="Calibri"/>
              </a:rPr>
              <a:t>k6 run k6/00-smoke.js.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980" b="1">
                <a:solidFill>
                  <a:srgbClr val="12707F"/>
                </a:solidFill>
                <a:latin typeface="Calibri"/>
              </a:rPr>
              <a:t>›  </a:t>
            </a:r>
            <a:r>
              <a:rPr sz="980" b="1">
                <a:solidFill>
                  <a:srgbClr val="0A3A45"/>
                </a:solidFill>
                <a:latin typeface="Calibri"/>
              </a:rPr>
              <a:t>Then a type — </a:t>
            </a:r>
            <a:r>
              <a:rPr sz="980" b="0">
                <a:solidFill>
                  <a:srgbClr val="2B3A3F"/>
                </a:solidFill>
                <a:latin typeface="Calibri"/>
              </a:rPr>
              <a:t>k6 run k6/01-load.js.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980" b="1">
                <a:solidFill>
                  <a:srgbClr val="12707F"/>
                </a:solidFill>
                <a:latin typeface="Calibri"/>
              </a:rPr>
              <a:t>›  </a:t>
            </a:r>
            <a:r>
              <a:rPr sz="980" b="1">
                <a:solidFill>
                  <a:srgbClr val="0A3A45"/>
                </a:solidFill>
                <a:latin typeface="Calibri"/>
              </a:rPr>
              <a:t>Point anywhere — </a:t>
            </a:r>
            <a:r>
              <a:rPr sz="980" b="0">
                <a:solidFill>
                  <a:srgbClr val="2B3A3F"/>
                </a:solidFill>
                <a:latin typeface="Calibri"/>
              </a:rPr>
              <a:t>-e BASE_URL=http://localhost:5000.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55464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5B6B70"/>
                </a:solidFill>
                <a:latin typeface="Calibri"/>
              </a:rPr>
              <a:t>CS423 · CSC15003 — Software Testing (AI-First) · Performance Lab — eShop SUT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4855464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>
                <a:solidFill>
                  <a:srgbClr val="12707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E8871E"/>
                </a:solidFill>
                <a:latin typeface="Calibri"/>
              </a:rPr>
              <a:t>THE RECIPE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"/>
            <a:ext cx="841248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0A3A45"/>
                </a:solidFill>
                <a:latin typeface="Calibri Light"/>
              </a:rPr>
              <a:t>Six tasks, one journey — the config differs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4124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>
                <a:solidFill>
                  <a:srgbClr val="5B6B70"/>
                </a:solidFill>
                <a:latin typeface="Calibri"/>
              </a:rPr>
              <a:t>You already have the journey; each task just changes VU count, ramp and hold.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27632"/>
            <a:ext cx="8229600" cy="365760"/>
          </a:xfrm>
          <a:prstGeom prst="roundRect">
            <a:avLst>
              <a:gd name="adj" fmla="val 3000"/>
            </a:avLst>
          </a:prstGeom>
          <a:solidFill>
            <a:srgbClr val="0A3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27632"/>
            <a:ext cx="46634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30" b="1">
                <a:solidFill>
                  <a:srgbClr val="FFFFFF"/>
                </a:solidFill>
                <a:latin typeface="Calibri"/>
              </a:rPr>
              <a:t>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627632"/>
            <a:ext cx="110642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30" b="1">
                <a:solidFill>
                  <a:srgbClr val="FFFFFF"/>
                </a:solidFill>
                <a:latin typeface="Calibri"/>
              </a:rPr>
              <a:t>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627632"/>
            <a:ext cx="252374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30" b="1">
                <a:solidFill>
                  <a:srgbClr val="FFFFFF"/>
                </a:solidFill>
                <a:latin typeface="Calibri"/>
              </a:rPr>
              <a:t>Load shape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627632"/>
            <a:ext cx="362102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30" b="1">
                <a:solidFill>
                  <a:srgbClr val="FFFFFF"/>
                </a:solidFill>
                <a:latin typeface="Calibri"/>
              </a:rPr>
              <a:t>What you report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93392"/>
            <a:ext cx="8229600" cy="411480"/>
          </a:xfrm>
          <a:prstGeom prst="rect">
            <a:avLst/>
          </a:prstGeom>
          <a:solidFill>
            <a:srgbClr val="ED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993392"/>
            <a:ext cx="46634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1">
                <a:solidFill>
                  <a:srgbClr val="2B3A3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1993392"/>
            <a:ext cx="110642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1">
                <a:solidFill>
                  <a:srgbClr val="12707F"/>
                </a:solidFill>
                <a:latin typeface="Calibri"/>
              </a:rPr>
              <a:t>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1993392"/>
            <a:ext cx="252374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>
                <a:solidFill>
                  <a:srgbClr val="2B3A3F"/>
                </a:solidFill>
                <a:latin typeface="Consolas"/>
              </a:rPr>
              <a:t>ramp→100, hold 5m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993392"/>
            <a:ext cx="3621023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>
                <a:solidFill>
                  <a:srgbClr val="2B3A3F"/>
                </a:solidFill>
                <a:latin typeface="Calibri"/>
              </a:rPr>
              <a:t>p95/p99 vs SLO — pass/fail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404872"/>
            <a:ext cx="82296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404872"/>
            <a:ext cx="46634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1">
                <a:solidFill>
                  <a:srgbClr val="2B3A3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2404872"/>
            <a:ext cx="110642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1">
                <a:solidFill>
                  <a:srgbClr val="12707F"/>
                </a:solidFill>
                <a:latin typeface="Calibri"/>
              </a:rPr>
              <a:t>Stress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2404872"/>
            <a:ext cx="252374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>
                <a:solidFill>
                  <a:srgbClr val="2B3A3F"/>
                </a:solidFill>
                <a:latin typeface="Consolas"/>
              </a:rPr>
              <a:t>climb 200→900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404872"/>
            <a:ext cx="3621023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>
                <a:solidFill>
                  <a:srgbClr val="2B3A3F"/>
                </a:solidFill>
                <a:latin typeface="Calibri"/>
              </a:rPr>
              <a:t>breaking point + recovery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16352"/>
            <a:ext cx="8229600" cy="411480"/>
          </a:xfrm>
          <a:prstGeom prst="rect">
            <a:avLst/>
          </a:prstGeom>
          <a:solidFill>
            <a:srgbClr val="ED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816352"/>
            <a:ext cx="46634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1">
                <a:solidFill>
                  <a:srgbClr val="2B3A3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2816352"/>
            <a:ext cx="110642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1">
                <a:solidFill>
                  <a:srgbClr val="12707F"/>
                </a:solidFill>
                <a:latin typeface="Calibri"/>
              </a:rPr>
              <a:t>Spike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2816352"/>
            <a:ext cx="252374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>
                <a:solidFill>
                  <a:srgbClr val="2B3A3F"/>
                </a:solidFill>
                <a:latin typeface="Consolas"/>
              </a:rPr>
              <a:t>20→600 in 15s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2816352"/>
            <a:ext cx="3621023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>
                <a:solidFill>
                  <a:srgbClr val="2B3A3F"/>
                </a:solidFill>
                <a:latin typeface="Calibri"/>
              </a:rPr>
              <a:t>drops + recovery time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227832"/>
            <a:ext cx="82296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227832"/>
            <a:ext cx="46634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1">
                <a:solidFill>
                  <a:srgbClr val="2B3A3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3227832"/>
            <a:ext cx="110642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1">
                <a:solidFill>
                  <a:srgbClr val="12707F"/>
                </a:solidFill>
                <a:latin typeface="Calibri"/>
              </a:rPr>
              <a:t>Soak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3227832"/>
            <a:ext cx="252374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>
                <a:solidFill>
                  <a:srgbClr val="2B3A3F"/>
                </a:solidFill>
                <a:latin typeface="Consolas"/>
              </a:rPr>
              <a:t>80 VUs, hold hours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3227832"/>
            <a:ext cx="3621023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>
                <a:solidFill>
                  <a:srgbClr val="2B3A3F"/>
                </a:solidFill>
                <a:latin typeface="Calibri"/>
              </a:rPr>
              <a:t>drift / memory leak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639312"/>
            <a:ext cx="8229600" cy="411480"/>
          </a:xfrm>
          <a:prstGeom prst="rect">
            <a:avLst/>
          </a:prstGeom>
          <a:solidFill>
            <a:srgbClr val="ED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639312"/>
            <a:ext cx="46634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1">
                <a:solidFill>
                  <a:srgbClr val="2B3A3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3639312"/>
            <a:ext cx="110642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1">
                <a:solidFill>
                  <a:srgbClr val="12707F"/>
                </a:solidFill>
                <a:latin typeface="Calibri"/>
              </a:rPr>
              <a:t>Breakpoint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77440" y="3639312"/>
            <a:ext cx="252374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>
                <a:solidFill>
                  <a:srgbClr val="2B3A3F"/>
                </a:solidFill>
                <a:latin typeface="Consolas"/>
              </a:rPr>
              <a:t>arrival-rate ramp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3639312"/>
            <a:ext cx="3621023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>
                <a:solidFill>
                  <a:srgbClr val="2B3A3F"/>
                </a:solidFill>
                <a:latin typeface="Calibri"/>
              </a:rPr>
              <a:t>max throughput + scaling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050792"/>
            <a:ext cx="82296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050792"/>
            <a:ext cx="46634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1">
                <a:solidFill>
                  <a:srgbClr val="2B3A3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4050792"/>
            <a:ext cx="110642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1">
                <a:solidFill>
                  <a:srgbClr val="12707F"/>
                </a:solidFill>
                <a:latin typeface="Calibri"/>
              </a:rPr>
              <a:t>CI gate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77440" y="4050792"/>
            <a:ext cx="252374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>
                <a:solidFill>
                  <a:srgbClr val="2B3A3F"/>
                </a:solidFill>
                <a:latin typeface="Consolas"/>
              </a:rPr>
              <a:t>20 VUs, 1m in CI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4050792"/>
            <a:ext cx="3621023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>
                <a:solidFill>
                  <a:srgbClr val="2B3A3F"/>
                </a:solidFill>
                <a:latin typeface="Calibri"/>
              </a:rPr>
              <a:t>blocks a real regression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855464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5B6B70"/>
                </a:solidFill>
                <a:latin typeface="Calibri"/>
              </a:rPr>
              <a:t>CS423 · CSC15003 — Software Testing (AI-First) · Performance Lab — eShop SUT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4855464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>
                <a:solidFill>
                  <a:srgbClr val="12707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E8871E"/>
                </a:solidFill>
                <a:latin typeface="Calibri"/>
              </a:rPr>
              <a:t>TASK 1 · 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8412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A3A45"/>
                </a:solidFill>
                <a:latin typeface="Calibri Light"/>
              </a:rPr>
              <a:t>Load test — meet targets at peak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0">
                <a:solidFill>
                  <a:srgbClr val="2B3A3F"/>
                </a:solidFill>
                <a:latin typeface="Calibri"/>
              </a:rPr>
              <a:t>Ramp to peak, hold, confirm the SLOs hold.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3977639" cy="2788920"/>
          </a:xfrm>
          <a:prstGeom prst="roundRect">
            <a:avLst>
              <a:gd name="adj" fmla="val 6000"/>
            </a:avLst>
          </a:prstGeom>
          <a:solidFill>
            <a:srgbClr val="ED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E8871E"/>
                </a:solidFill>
                <a:latin typeface="Calibri"/>
              </a:rPr>
              <a:t>TEST TECHNIQUE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75104"/>
            <a:ext cx="361188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040" b="1">
                <a:solidFill>
                  <a:srgbClr val="12707F"/>
                </a:solidFill>
                <a:latin typeface="Calibri"/>
              </a:rPr>
              <a:t>›  </a:t>
            </a:r>
            <a:r>
              <a:rPr sz="1040" b="1">
                <a:solidFill>
                  <a:srgbClr val="0A3A45"/>
                </a:solidFill>
                <a:latin typeface="Calibri"/>
              </a:rPr>
              <a:t>Ramp then hold — </a:t>
            </a:r>
            <a:r>
              <a:rPr sz="1040" b="0">
                <a:solidFill>
                  <a:srgbClr val="2B3A3F"/>
                </a:solidFill>
                <a:latin typeface="Calibri"/>
              </a:rPr>
              <a:t>2m up to 100 VUs, hold 5m, 1m down.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040" b="1">
                <a:solidFill>
                  <a:srgbClr val="12707F"/>
                </a:solidFill>
                <a:latin typeface="Calibri"/>
              </a:rPr>
              <a:t>›  </a:t>
            </a:r>
            <a:r>
              <a:rPr sz="1040" b="1">
                <a:solidFill>
                  <a:srgbClr val="0A3A45"/>
                </a:solidFill>
                <a:latin typeface="Calibri"/>
              </a:rPr>
              <a:t>Assert the SLOs — </a:t>
            </a:r>
            <a:r>
              <a:rPr sz="1040" b="0">
                <a:solidFill>
                  <a:srgbClr val="2B3A3F"/>
                </a:solidFill>
                <a:latin typeface="Calibri"/>
              </a:rPr>
              <a:t>thresholds from config.js gate the run.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040" b="1">
                <a:solidFill>
                  <a:srgbClr val="12707F"/>
                </a:solidFill>
                <a:latin typeface="Calibri"/>
              </a:rPr>
              <a:t>›  </a:t>
            </a:r>
            <a:r>
              <a:rPr sz="1040" b="1">
                <a:solidFill>
                  <a:srgbClr val="0A3A45"/>
                </a:solidFill>
                <a:latin typeface="Calibri"/>
              </a:rPr>
              <a:t>Read the tail — </a:t>
            </a:r>
            <a:r>
              <a:rPr sz="1040" b="0">
                <a:solidFill>
                  <a:srgbClr val="2B3A3F"/>
                </a:solidFill>
                <a:latin typeface="Calibri"/>
              </a:rPr>
              <a:t>report p95 AND p99, not the average.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040" b="1">
                <a:solidFill>
                  <a:srgbClr val="12707F"/>
                </a:solidFill>
                <a:latin typeface="Calibri"/>
              </a:rPr>
              <a:t>›  </a:t>
            </a:r>
            <a:r>
              <a:rPr sz="1040" b="1">
                <a:solidFill>
                  <a:srgbClr val="0A3A45"/>
                </a:solidFill>
                <a:latin typeface="Calibri"/>
              </a:rPr>
              <a:t>Verdict — </a:t>
            </a:r>
            <a:r>
              <a:rPr sz="1040" b="0">
                <a:solidFill>
                  <a:srgbClr val="2B3A3F"/>
                </a:solidFill>
                <a:latin typeface="Calibri"/>
              </a:rPr>
              <a:t>state pass/fail against the SLO and why.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1170432"/>
            <a:ext cx="4069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E8871E"/>
                </a:solidFill>
                <a:latin typeface="Calibri"/>
              </a:rPr>
              <a:t>EXAMPLE — 01-load.js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463040"/>
            <a:ext cx="4069080" cy="2788920"/>
          </a:xfrm>
          <a:prstGeom prst="roundRect">
            <a:avLst>
              <a:gd name="adj" fmla="val 4000"/>
            </a:avLst>
          </a:prstGeom>
          <a:solidFill>
            <a:srgbClr val="0E2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591056"/>
            <a:ext cx="3721608" cy="2551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7FB7A8"/>
                </a:solidFill>
                <a:latin typeface="Consolas"/>
              </a:rPr>
              <a:t>// ramping-vus: up, hold, down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6F0F1"/>
                </a:solidFill>
                <a:latin typeface="Consolas"/>
              </a:rPr>
              <a:t>export const options =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6F0F1"/>
                </a:solidFill>
                <a:latin typeface="Consolas"/>
              </a:rPr>
              <a:t>  scenarios:{ load:{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6F0F1"/>
                </a:solidFill>
                <a:latin typeface="Consolas"/>
              </a:rPr>
              <a:t>    executor:"ramping-vus",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6F0F1"/>
                </a:solidFill>
                <a:latin typeface="Consolas"/>
              </a:rPr>
              <a:t>    stages:[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6F0F1"/>
                </a:solidFill>
                <a:latin typeface="Consolas"/>
              </a:rPr>
              <a:t>      { duration:"2m", target:100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6F0F1"/>
                </a:solidFill>
                <a:latin typeface="Consolas"/>
              </a:rPr>
              <a:t>      { duration:"5m", target:100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6F0F1"/>
                </a:solidFill>
                <a:latin typeface="Consolas"/>
              </a:rPr>
              <a:t>      { duration:"1m", target:0 } ] }},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6F0F1"/>
                </a:solidFill>
                <a:latin typeface="Consolas"/>
              </a:rPr>
              <a:t>  thresholds };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343400"/>
            <a:ext cx="8229600" cy="457200"/>
          </a:xfrm>
          <a:prstGeom prst="roundRect">
            <a:avLst>
              <a:gd name="adj" fmla="val 14000"/>
            </a:avLst>
          </a:prstGeom>
          <a:solidFill>
            <a:srgbClr val="0A3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4343400"/>
            <a:ext cx="7772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E8871E"/>
                </a:solidFill>
                <a:latin typeface="Calibri"/>
              </a:rPr>
              <a:t>DELIVERABLE   </a:t>
            </a:r>
            <a:r>
              <a:rPr sz="1000" b="0">
                <a:solidFill>
                  <a:srgbClr val="FFFFFF"/>
                </a:solidFill>
                <a:latin typeface="Calibri"/>
              </a:rPr>
              <a:t>The p95/p99 distribution, the error rate, and a clear pass/fail against the SLOs.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55464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5B6B70"/>
                </a:solidFill>
                <a:latin typeface="Calibri"/>
              </a:rPr>
              <a:t>CS423 · CSC15003 — Software Testing (AI-First) · Performance Lab — eShop SUT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4855464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>
                <a:solidFill>
                  <a:srgbClr val="12707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E8871E"/>
                </a:solidFill>
                <a:latin typeface="Calibri"/>
              </a:rPr>
              <a:t>TASK 2 · STRESS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8412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A3A45"/>
                </a:solidFill>
                <a:latin typeface="Calibri Light"/>
              </a:rPr>
              <a:t>Stress test — find the breaking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0">
                <a:solidFill>
                  <a:srgbClr val="2B3A3F"/>
                </a:solidFill>
                <a:latin typeface="Calibri"/>
              </a:rPr>
              <a:t>Push past the peak; learn the failure mode.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3977639" cy="2788920"/>
          </a:xfrm>
          <a:prstGeom prst="roundRect">
            <a:avLst>
              <a:gd name="adj" fmla="val 6000"/>
            </a:avLst>
          </a:prstGeom>
          <a:solidFill>
            <a:srgbClr val="ED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E8871E"/>
                </a:solidFill>
                <a:latin typeface="Calibri"/>
              </a:rPr>
              <a:t>TEST TECHNIQUE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75104"/>
            <a:ext cx="361188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040" b="1">
                <a:solidFill>
                  <a:srgbClr val="12707F"/>
                </a:solidFill>
                <a:latin typeface="Calibri"/>
              </a:rPr>
              <a:t>›  </a:t>
            </a:r>
            <a:r>
              <a:rPr sz="1040" b="1">
                <a:solidFill>
                  <a:srgbClr val="0A3A45"/>
                </a:solidFill>
                <a:latin typeface="Calibri"/>
              </a:rPr>
              <a:t>Climb past peak — </a:t>
            </a:r>
            <a:r>
              <a:rPr sz="1040" b="0">
                <a:solidFill>
                  <a:srgbClr val="2B3A3F"/>
                </a:solidFill>
                <a:latin typeface="Calibri"/>
              </a:rPr>
              <a:t>200 → 500 → 900 VUs.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040" b="1">
                <a:solidFill>
                  <a:srgbClr val="12707F"/>
                </a:solidFill>
                <a:latin typeface="Calibri"/>
              </a:rPr>
              <a:t>›  </a:t>
            </a:r>
            <a:r>
              <a:rPr sz="1040" b="1">
                <a:solidFill>
                  <a:srgbClr val="0A3A45"/>
                </a:solidFill>
                <a:latin typeface="Calibri"/>
              </a:rPr>
              <a:t>Find the knee — </a:t>
            </a:r>
            <a:r>
              <a:rPr sz="1040" b="0">
                <a:solidFill>
                  <a:srgbClr val="2B3A3F"/>
                </a:solidFill>
                <a:latin typeface="Calibri"/>
              </a:rPr>
              <a:t>the load where errors start climbing.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040" b="1">
                <a:solidFill>
                  <a:srgbClr val="12707F"/>
                </a:solidFill>
                <a:latin typeface="Calibri"/>
              </a:rPr>
              <a:t>›  </a:t>
            </a:r>
            <a:r>
              <a:rPr sz="1040" b="1">
                <a:solidFill>
                  <a:srgbClr val="0A3A45"/>
                </a:solidFill>
                <a:latin typeface="Calibri"/>
              </a:rPr>
              <a:t>Failure mode — </a:t>
            </a:r>
            <a:r>
              <a:rPr sz="1040" b="0">
                <a:solidFill>
                  <a:srgbClr val="2B3A3F"/>
                </a:solidFill>
                <a:latin typeface="Calibri"/>
              </a:rPr>
              <a:t>graceful 429/503 vs hard crash?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040" b="1">
                <a:solidFill>
                  <a:srgbClr val="12707F"/>
                </a:solidFill>
                <a:latin typeface="Calibri"/>
              </a:rPr>
              <a:t>›  </a:t>
            </a:r>
            <a:r>
              <a:rPr sz="1040" b="1">
                <a:solidFill>
                  <a:srgbClr val="0A3A45"/>
                </a:solidFill>
                <a:latin typeface="Calibri"/>
              </a:rPr>
              <a:t>Recovery — </a:t>
            </a:r>
            <a:r>
              <a:rPr sz="1040" b="0">
                <a:solidFill>
                  <a:srgbClr val="2B3A3F"/>
                </a:solidFill>
                <a:latin typeface="Calibri"/>
              </a:rPr>
              <a:t>does latency settle when load drops?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1170432"/>
            <a:ext cx="4069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E8871E"/>
                </a:solidFill>
                <a:latin typeface="Calibri"/>
              </a:rPr>
              <a:t>EXAMPLE — 02-stress.js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463040"/>
            <a:ext cx="4069080" cy="2788920"/>
          </a:xfrm>
          <a:prstGeom prst="roundRect">
            <a:avLst>
              <a:gd name="adj" fmla="val 4000"/>
            </a:avLst>
          </a:prstGeom>
          <a:solidFill>
            <a:srgbClr val="0E2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591056"/>
            <a:ext cx="3721608" cy="2551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7FB7A8"/>
                </a:solidFill>
                <a:latin typeface="Consolas"/>
              </a:rPr>
              <a:t>// keep climbing, then release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6F0F1"/>
                </a:solidFill>
                <a:latin typeface="Consolas"/>
              </a:rPr>
              <a:t>stages:[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6F0F1"/>
                </a:solidFill>
                <a:latin typeface="Consolas"/>
              </a:rPr>
              <a:t>  { duration:"2m", target:200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6F0F1"/>
                </a:solidFill>
                <a:latin typeface="Consolas"/>
              </a:rPr>
              <a:t>  { duration:"3m", target:500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6F0F1"/>
                </a:solidFill>
                <a:latin typeface="Consolas"/>
              </a:rPr>
              <a:t>  { duration:"3m", target:900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6F0F1"/>
                </a:solidFill>
                <a:latin typeface="Consolas"/>
              </a:rPr>
              <a:t>  { duration:"2m", target:0 } ]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6F0F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7FB7A8"/>
                </a:solidFill>
                <a:latin typeface="Consolas"/>
              </a:rPr>
              <a:t>// loose gate: rate&lt;0.15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7FB7A8"/>
                </a:solidFill>
                <a:latin typeface="Consolas"/>
              </a:rPr>
              <a:t>// watch: 429/503, recovery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343400"/>
            <a:ext cx="8229600" cy="457200"/>
          </a:xfrm>
          <a:prstGeom prst="roundRect">
            <a:avLst>
              <a:gd name="adj" fmla="val 14000"/>
            </a:avLst>
          </a:prstGeom>
          <a:solidFill>
            <a:srgbClr val="0A3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4343400"/>
            <a:ext cx="7772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E8871E"/>
                </a:solidFill>
                <a:latin typeface="Calibri"/>
              </a:rPr>
              <a:t>DELIVERABLE   </a:t>
            </a:r>
            <a:r>
              <a:rPr sz="1000" b="0">
                <a:solidFill>
                  <a:srgbClr val="FFFFFF"/>
                </a:solidFill>
                <a:latin typeface="Calibri"/>
              </a:rPr>
              <a:t>The breakpoint number, the observed failure mode, and the recovery behaviour.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55464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5B6B70"/>
                </a:solidFill>
                <a:latin typeface="Calibri"/>
              </a:rPr>
              <a:t>CS423 · CSC15003 — Software Testing (AI-First) · Performance Lab — eShop SUT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4855464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>
                <a:solidFill>
                  <a:srgbClr val="12707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E8871E"/>
                </a:solidFill>
                <a:latin typeface="Calibri"/>
              </a:rPr>
              <a:t>TASK 3 · SPIKE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8412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A3A45"/>
                </a:solidFill>
                <a:latin typeface="Calibri Light"/>
              </a:rPr>
              <a:t>Spike test — the flash crowd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0">
                <a:solidFill>
                  <a:srgbClr val="2B3A3F"/>
                </a:solidFill>
                <a:latin typeface="Calibri"/>
              </a:rPr>
              <a:t>Jump from baseline to a huge load in seconds.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3977639" cy="2788920"/>
          </a:xfrm>
          <a:prstGeom prst="roundRect">
            <a:avLst>
              <a:gd name="adj" fmla="val 6000"/>
            </a:avLst>
          </a:prstGeom>
          <a:solidFill>
            <a:srgbClr val="ED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E8871E"/>
                </a:solidFill>
                <a:latin typeface="Calibri"/>
              </a:rPr>
              <a:t>TEST TECHNIQUE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75104"/>
            <a:ext cx="361188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040" b="1">
                <a:solidFill>
                  <a:srgbClr val="12707F"/>
                </a:solidFill>
                <a:latin typeface="Calibri"/>
              </a:rPr>
              <a:t>›  </a:t>
            </a:r>
            <a:r>
              <a:rPr sz="1040" b="1">
                <a:solidFill>
                  <a:srgbClr val="0A3A45"/>
                </a:solidFill>
                <a:latin typeface="Calibri"/>
              </a:rPr>
              <a:t>Instant jump — </a:t>
            </a:r>
            <a:r>
              <a:rPr sz="1040" b="0">
                <a:solidFill>
                  <a:srgbClr val="2B3A3F"/>
                </a:solidFill>
                <a:latin typeface="Calibri"/>
              </a:rPr>
              <a:t>20 → 600 VUs in 15 s.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040" b="1">
                <a:solidFill>
                  <a:srgbClr val="12707F"/>
                </a:solidFill>
                <a:latin typeface="Calibri"/>
              </a:rPr>
              <a:t>›  </a:t>
            </a:r>
            <a:r>
              <a:rPr sz="1040" b="1">
                <a:solidFill>
                  <a:srgbClr val="0A3A45"/>
                </a:solidFill>
                <a:latin typeface="Calibri"/>
              </a:rPr>
              <a:t>Sustain briefly — </a:t>
            </a:r>
            <a:r>
              <a:rPr sz="1040" b="0">
                <a:solidFill>
                  <a:srgbClr val="2B3A3F"/>
                </a:solidFill>
                <a:latin typeface="Calibri"/>
              </a:rPr>
              <a:t>hold the surge for a minute.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040" b="1">
                <a:solidFill>
                  <a:srgbClr val="12707F"/>
                </a:solidFill>
                <a:latin typeface="Calibri"/>
              </a:rPr>
              <a:t>›  </a:t>
            </a:r>
            <a:r>
              <a:rPr sz="1040" b="1">
                <a:solidFill>
                  <a:srgbClr val="0A3A45"/>
                </a:solidFill>
                <a:latin typeface="Calibri"/>
              </a:rPr>
              <a:t>Drop back — </a:t>
            </a:r>
            <a:r>
              <a:rPr sz="1040" b="0">
                <a:solidFill>
                  <a:srgbClr val="2B3A3F"/>
                </a:solidFill>
                <a:latin typeface="Calibri"/>
              </a:rPr>
              <a:t>return to baseline.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040" b="1">
                <a:solidFill>
                  <a:srgbClr val="12707F"/>
                </a:solidFill>
                <a:latin typeface="Calibri"/>
              </a:rPr>
              <a:t>›  </a:t>
            </a:r>
            <a:r>
              <a:rPr sz="1040" b="1">
                <a:solidFill>
                  <a:srgbClr val="0A3A45"/>
                </a:solidFill>
                <a:latin typeface="Calibri"/>
              </a:rPr>
              <a:t>Measure recovery — </a:t>
            </a:r>
            <a:r>
              <a:rPr sz="1040" b="0">
                <a:solidFill>
                  <a:srgbClr val="2B3A3F"/>
                </a:solidFill>
                <a:latin typeface="Calibri"/>
              </a:rPr>
              <a:t>how long until latency is normal?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1170432"/>
            <a:ext cx="4069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E8871E"/>
                </a:solidFill>
                <a:latin typeface="Calibri"/>
              </a:rPr>
              <a:t>EXAMPLE — 03-spike.js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463040"/>
            <a:ext cx="4069080" cy="2788920"/>
          </a:xfrm>
          <a:prstGeom prst="roundRect">
            <a:avLst>
              <a:gd name="adj" fmla="val 4000"/>
            </a:avLst>
          </a:prstGeom>
          <a:solidFill>
            <a:srgbClr val="0E2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591056"/>
            <a:ext cx="3721608" cy="2551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7FB7A8"/>
                </a:solidFill>
                <a:latin typeface="Consolas"/>
              </a:rPr>
              <a:t>// near-instant surge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6F0F1"/>
                </a:solidFill>
                <a:latin typeface="Consolas"/>
              </a:rPr>
              <a:t>stages:[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6F0F1"/>
                </a:solidFill>
                <a:latin typeface="Consolas"/>
              </a:rPr>
              <a:t>  { duration:"30s", target:20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6F0F1"/>
                </a:solidFill>
                <a:latin typeface="Consolas"/>
              </a:rPr>
              <a:t>  { duration:"15s", target:600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6F0F1"/>
                </a:solidFill>
                <a:latin typeface="Consolas"/>
              </a:rPr>
              <a:t>  { duration:"1m",  target:600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6F0F1"/>
                </a:solidFill>
                <a:latin typeface="Consolas"/>
              </a:rPr>
              <a:t>  { duration:"20s", target:20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6F0F1"/>
                </a:solidFill>
                <a:latin typeface="Consolas"/>
              </a:rPr>
              <a:t>  { duration:"1m",  target:20 } ]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7FB7A8"/>
                </a:solidFill>
                <a:latin typeface="Consolas"/>
              </a:rPr>
              <a:t>// report: dropped reqs, recovery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343400"/>
            <a:ext cx="8229600" cy="457200"/>
          </a:xfrm>
          <a:prstGeom prst="roundRect">
            <a:avLst>
              <a:gd name="adj" fmla="val 14000"/>
            </a:avLst>
          </a:prstGeom>
          <a:solidFill>
            <a:srgbClr val="0A3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4343400"/>
            <a:ext cx="7772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E8871E"/>
                </a:solidFill>
                <a:latin typeface="Calibri"/>
              </a:rPr>
              <a:t>DELIVERABLE   </a:t>
            </a:r>
            <a:r>
              <a:rPr sz="1000" b="0">
                <a:solidFill>
                  <a:srgbClr val="FFFFFF"/>
                </a:solidFill>
                <a:latin typeface="Calibri"/>
              </a:rPr>
              <a:t>Dropped requests during the surge and the time for latency to return to baseline.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55464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5B6B70"/>
                </a:solidFill>
                <a:latin typeface="Calibri"/>
              </a:rPr>
              <a:t>CS423 · CSC15003 — Software Testing (AI-First) · Performance Lab — eShop SUT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4855464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>
                <a:solidFill>
                  <a:srgbClr val="12707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E8871E"/>
                </a:solidFill>
                <a:latin typeface="Calibri"/>
              </a:rPr>
              <a:t>TASK 4 · SOAK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8412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A3A45"/>
                </a:solidFill>
                <a:latin typeface="Calibri Light"/>
              </a:rPr>
              <a:t>Soak test — the slow leak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0">
                <a:solidFill>
                  <a:srgbClr val="2B3A3F"/>
                </a:solidFill>
                <a:latin typeface="Calibri"/>
              </a:rPr>
              <a:t>Hold moderate load a long time; catch drift.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3977639" cy="2788920"/>
          </a:xfrm>
          <a:prstGeom prst="roundRect">
            <a:avLst>
              <a:gd name="adj" fmla="val 6000"/>
            </a:avLst>
          </a:prstGeom>
          <a:solidFill>
            <a:srgbClr val="ED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E8871E"/>
                </a:solidFill>
                <a:latin typeface="Calibri"/>
              </a:rPr>
              <a:t>TEST TECHNIQUE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75104"/>
            <a:ext cx="361188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040" b="1">
                <a:solidFill>
                  <a:srgbClr val="12707F"/>
                </a:solidFill>
                <a:latin typeface="Calibri"/>
              </a:rPr>
              <a:t>›  </a:t>
            </a:r>
            <a:r>
              <a:rPr sz="1040" b="1">
                <a:solidFill>
                  <a:srgbClr val="0A3A45"/>
                </a:solidFill>
                <a:latin typeface="Calibri"/>
              </a:rPr>
              <a:t>Moderate &amp; long — </a:t>
            </a:r>
            <a:r>
              <a:rPr sz="1040" b="0">
                <a:solidFill>
                  <a:srgbClr val="2B3A3F"/>
                </a:solidFill>
                <a:latin typeface="Calibri"/>
              </a:rPr>
              <a:t>80 VUs, held for hours.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040" b="1">
                <a:solidFill>
                  <a:srgbClr val="12707F"/>
                </a:solidFill>
                <a:latin typeface="Calibri"/>
              </a:rPr>
              <a:t>›  </a:t>
            </a:r>
            <a:r>
              <a:rPr sz="1040" b="1">
                <a:solidFill>
                  <a:srgbClr val="0A3A45"/>
                </a:solidFill>
                <a:latin typeface="Calibri"/>
              </a:rPr>
              <a:t>Short for the lab — </a:t>
            </a:r>
            <a:r>
              <a:rPr sz="1040" b="0">
                <a:solidFill>
                  <a:srgbClr val="2B3A3F"/>
                </a:solidFill>
                <a:latin typeface="Calibri"/>
              </a:rPr>
              <a:t>-e SOAK_HOLD=20m (note the trade-off).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040" b="1">
                <a:solidFill>
                  <a:srgbClr val="12707F"/>
                </a:solidFill>
                <a:latin typeface="Calibri"/>
              </a:rPr>
              <a:t>›  </a:t>
            </a:r>
            <a:r>
              <a:rPr sz="1040" b="1">
                <a:solidFill>
                  <a:srgbClr val="0A3A45"/>
                </a:solidFill>
                <a:latin typeface="Calibri"/>
              </a:rPr>
              <a:t>Watch for drift — </a:t>
            </a:r>
            <a:r>
              <a:rPr sz="1040" b="0">
                <a:solidFill>
                  <a:srgbClr val="2B3A3F"/>
                </a:solidFill>
                <a:latin typeface="Calibri"/>
              </a:rPr>
              <a:t>rising latency, memory, error rate.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040" b="1">
                <a:solidFill>
                  <a:srgbClr val="12707F"/>
                </a:solidFill>
                <a:latin typeface="Calibri"/>
              </a:rPr>
              <a:t>›  </a:t>
            </a:r>
            <a:r>
              <a:rPr sz="1040" b="1">
                <a:solidFill>
                  <a:srgbClr val="0A3A45"/>
                </a:solidFill>
                <a:latin typeface="Calibri"/>
              </a:rPr>
              <a:t>Flat = healthy — </a:t>
            </a:r>
            <a:r>
              <a:rPr sz="1040" b="0">
                <a:solidFill>
                  <a:srgbClr val="2B3A3F"/>
                </a:solidFill>
                <a:latin typeface="Calibri"/>
              </a:rPr>
              <a:t>a rising line is a suspected leak.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1170432"/>
            <a:ext cx="4069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E8871E"/>
                </a:solidFill>
                <a:latin typeface="Calibri"/>
              </a:rPr>
              <a:t>EXAMPLE — 04-soak.js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463040"/>
            <a:ext cx="4069080" cy="2788920"/>
          </a:xfrm>
          <a:prstGeom prst="roundRect">
            <a:avLst>
              <a:gd name="adj" fmla="val 4000"/>
            </a:avLst>
          </a:prstGeom>
          <a:solidFill>
            <a:srgbClr val="0E2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591056"/>
            <a:ext cx="3721608" cy="2551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7FB7A8"/>
                </a:solidFill>
                <a:latin typeface="Consolas"/>
              </a:rPr>
              <a:t>// hold overridable via env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6F0F1"/>
                </a:solidFill>
                <a:latin typeface="Consolas"/>
              </a:rPr>
              <a:t>const HOLD = __ENV.SOAK_HOLD || "2h";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6F0F1"/>
                </a:solidFill>
                <a:latin typeface="Consolas"/>
              </a:rPr>
              <a:t>stages:[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6F0F1"/>
                </a:solidFill>
                <a:latin typeface="Consolas"/>
              </a:rPr>
              <a:t>  { duration:"5m",  target:80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6F0F1"/>
                </a:solidFill>
                <a:latin typeface="Consolas"/>
              </a:rPr>
              <a:t>  { duration:HOLD, target:80 },  // hold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6F0F1"/>
                </a:solidFill>
                <a:latin typeface="Consolas"/>
              </a:rPr>
              <a:t>  { duration:"5m",  target:0 } ]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6F0F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7FB7A8"/>
                </a:solidFill>
                <a:latin typeface="Consolas"/>
              </a:rPr>
              <a:t>// SLOs must hold the WHOLE time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7FB7A8"/>
                </a:solidFill>
                <a:latin typeface="Consolas"/>
              </a:rPr>
              <a:t>// watch memory/GC/DB connections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343400"/>
            <a:ext cx="8229600" cy="457200"/>
          </a:xfrm>
          <a:prstGeom prst="roundRect">
            <a:avLst>
              <a:gd name="adj" fmla="val 14000"/>
            </a:avLst>
          </a:prstGeom>
          <a:solidFill>
            <a:srgbClr val="0A3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4343400"/>
            <a:ext cx="7772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E8871E"/>
                </a:solidFill>
                <a:latin typeface="Calibri"/>
              </a:rPr>
              <a:t>DELIVERABLE   </a:t>
            </a:r>
            <a:r>
              <a:rPr sz="1000" b="0">
                <a:solidFill>
                  <a:srgbClr val="FFFFFF"/>
                </a:solidFill>
                <a:latin typeface="Calibri"/>
              </a:rPr>
              <a:t>A drift verdict: flat metrics (healthy) or a rising line (leak) — with the evidence.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55464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5B6B70"/>
                </a:solidFill>
                <a:latin typeface="Calibri"/>
              </a:rPr>
              <a:t>CS423 · CSC15003 — Software Testing (AI-First) · Performance Lab — eShop SUT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4855464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>
                <a:solidFill>
                  <a:srgbClr val="12707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E8871E"/>
                </a:solidFill>
                <a:latin typeface="Calibri"/>
              </a:rPr>
              <a:t>TASK 5 · CAPACITY &amp; SCALABILITY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8412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A3A45"/>
                </a:solidFill>
                <a:latin typeface="Calibri Light"/>
              </a:rPr>
              <a:t>Breakpoint + scalability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0">
                <a:solidFill>
                  <a:srgbClr val="2B3A3F"/>
                </a:solidFill>
                <a:latin typeface="Calibri"/>
              </a:rPr>
              <a:t>Find max throughput; prove that it scales.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3977639" cy="2788920"/>
          </a:xfrm>
          <a:prstGeom prst="roundRect">
            <a:avLst>
              <a:gd name="adj" fmla="val 6000"/>
            </a:avLst>
          </a:prstGeom>
          <a:solidFill>
            <a:srgbClr val="ED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E8871E"/>
                </a:solidFill>
                <a:latin typeface="Calibri"/>
              </a:rPr>
              <a:t>TEST TECHNIQUE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75104"/>
            <a:ext cx="361188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040" b="1">
                <a:solidFill>
                  <a:srgbClr val="12707F"/>
                </a:solidFill>
                <a:latin typeface="Calibri"/>
              </a:rPr>
              <a:t>›  </a:t>
            </a:r>
            <a:r>
              <a:rPr sz="1040" b="1">
                <a:solidFill>
                  <a:srgbClr val="0A3A45"/>
                </a:solidFill>
                <a:latin typeface="Calibri"/>
              </a:rPr>
              <a:t>Arrival-rate ramp — </a:t>
            </a:r>
            <a:r>
              <a:rPr sz="1040" b="0">
                <a:solidFill>
                  <a:srgbClr val="2B3A3F"/>
                </a:solidFill>
                <a:latin typeface="Calibri"/>
              </a:rPr>
              <a:t>dictate req/s, not VUs (open model).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040" b="1">
                <a:solidFill>
                  <a:srgbClr val="12707F"/>
                </a:solidFill>
                <a:latin typeface="Calibri"/>
              </a:rPr>
              <a:t>›  </a:t>
            </a:r>
            <a:r>
              <a:rPr sz="1040" b="1">
                <a:solidFill>
                  <a:srgbClr val="0A3A45"/>
                </a:solidFill>
                <a:latin typeface="Calibri"/>
              </a:rPr>
              <a:t>Find the knee — </a:t>
            </a:r>
            <a:r>
              <a:rPr sz="1040" b="0">
                <a:solidFill>
                  <a:srgbClr val="2B3A3F"/>
                </a:solidFill>
                <a:latin typeface="Calibri"/>
              </a:rPr>
              <a:t>where p95 turns up sharply = capacity.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040" b="1">
                <a:solidFill>
                  <a:srgbClr val="12707F"/>
                </a:solidFill>
                <a:latin typeface="Calibri"/>
              </a:rPr>
              <a:t>›  </a:t>
            </a:r>
            <a:r>
              <a:rPr sz="1040" b="1">
                <a:solidFill>
                  <a:srgbClr val="0A3A45"/>
                </a:solidFill>
                <a:latin typeface="Calibri"/>
              </a:rPr>
              <a:t>Scale the SUT — </a:t>
            </a:r>
            <a:r>
              <a:rPr sz="1040" b="0">
                <a:solidFill>
                  <a:srgbClr val="2B3A3F"/>
                </a:solidFill>
                <a:latin typeface="Calibri"/>
              </a:rPr>
              <a:t>double the replicas, re-run.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040" b="1">
                <a:solidFill>
                  <a:srgbClr val="12707F"/>
                </a:solidFill>
                <a:latin typeface="Calibri"/>
              </a:rPr>
              <a:t>›  </a:t>
            </a:r>
            <a:r>
              <a:rPr sz="1040" b="1">
                <a:solidFill>
                  <a:srgbClr val="0A3A45"/>
                </a:solidFill>
                <a:latin typeface="Calibri"/>
              </a:rPr>
              <a:t>Verdict — </a:t>
            </a:r>
            <a:r>
              <a:rPr sz="1040" b="0">
                <a:solidFill>
                  <a:srgbClr val="2B3A3F"/>
                </a:solidFill>
                <a:latin typeface="Calibri"/>
              </a:rPr>
              <a:t>near-linear (scales) or plateau (bottleneck)?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1170432"/>
            <a:ext cx="4069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E8871E"/>
                </a:solidFill>
                <a:latin typeface="Calibri"/>
              </a:rPr>
              <a:t>EXAMPLE — 05-breakpoint.js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463040"/>
            <a:ext cx="4069080" cy="2788920"/>
          </a:xfrm>
          <a:prstGeom prst="roundRect">
            <a:avLst>
              <a:gd name="adj" fmla="val 4000"/>
            </a:avLst>
          </a:prstGeom>
          <a:solidFill>
            <a:srgbClr val="0E2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591056"/>
            <a:ext cx="3721608" cy="2551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7FB7A8"/>
                </a:solidFill>
                <a:latin typeface="Consolas"/>
              </a:rPr>
              <a:t>// open model: pressure regardless of speed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6F0F1"/>
                </a:solidFill>
                <a:latin typeface="Consolas"/>
              </a:rPr>
              <a:t>executor:"ramping-arrival-rate",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6F0F1"/>
                </a:solidFill>
                <a:latin typeface="Consolas"/>
              </a:rPr>
              <a:t>startRate:10, timeUnit:"1s",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6F0F1"/>
                </a:solidFill>
                <a:latin typeface="Consolas"/>
              </a:rPr>
              <a:t>preAllocatedVUs:100, maxVUs:2000,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6F0F1"/>
                </a:solidFill>
                <a:latin typeface="Consolas"/>
              </a:rPr>
              <a:t>stages:[{ target:500, duration:"15m" }],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6F0F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7FB7A8"/>
                </a:solidFill>
                <a:latin typeface="Consolas"/>
              </a:rPr>
              <a:t>// abortOnFail past the knee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7FB7A8"/>
                </a:solidFill>
                <a:latin typeface="Consolas"/>
              </a:rPr>
              <a:t>// then: 2x replicas -&gt; throughput ~2x?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343400"/>
            <a:ext cx="8229600" cy="457200"/>
          </a:xfrm>
          <a:prstGeom prst="roundRect">
            <a:avLst>
              <a:gd name="adj" fmla="val 14000"/>
            </a:avLst>
          </a:prstGeom>
          <a:solidFill>
            <a:srgbClr val="0A3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4343400"/>
            <a:ext cx="7772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E8871E"/>
                </a:solidFill>
                <a:latin typeface="Calibri"/>
              </a:rPr>
              <a:t>DELIVERABLE   </a:t>
            </a:r>
            <a:r>
              <a:rPr sz="1000" b="0">
                <a:solidFill>
                  <a:srgbClr val="FFFFFF"/>
                </a:solidFill>
                <a:latin typeface="Calibri"/>
              </a:rPr>
              <a:t>The capacity number and a scalability verdict — does throughput rise near-linearly?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55464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5B6B70"/>
                </a:solidFill>
                <a:latin typeface="Calibri"/>
              </a:rPr>
              <a:t>CS423 · CSC15003 — Software Testing (AI-First) · Performance Lab — eShop SUT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4855464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>
                <a:solidFill>
                  <a:srgbClr val="12707F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E8871E"/>
                </a:solidFill>
                <a:latin typeface="Calibri"/>
              </a:rPr>
              <a:t>TASK 6 · SHIFT-LEFT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8412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A3A45"/>
                </a:solidFill>
                <a:latin typeface="Calibri Light"/>
              </a:rPr>
              <a:t>CI gate — block the 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0">
                <a:solidFill>
                  <a:srgbClr val="2B3A3F"/>
                </a:solidFill>
                <a:latin typeface="Calibri"/>
              </a:rPr>
              <a:t>A short smoke on every PR blocks a regression.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3977639" cy="2788920"/>
          </a:xfrm>
          <a:prstGeom prst="roundRect">
            <a:avLst>
              <a:gd name="adj" fmla="val 6000"/>
            </a:avLst>
          </a:prstGeom>
          <a:solidFill>
            <a:srgbClr val="ED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E8871E"/>
                </a:solidFill>
                <a:latin typeface="Calibri"/>
              </a:rPr>
              <a:t>TEST TECHNIQUE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75104"/>
            <a:ext cx="361188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040" b="1">
                <a:solidFill>
                  <a:srgbClr val="12707F"/>
                </a:solidFill>
                <a:latin typeface="Calibri"/>
              </a:rPr>
              <a:t>›  </a:t>
            </a:r>
            <a:r>
              <a:rPr sz="1040" b="1">
                <a:solidFill>
                  <a:srgbClr val="0A3A45"/>
                </a:solidFill>
                <a:latin typeface="Calibri"/>
              </a:rPr>
              <a:t>Small &amp; fast — </a:t>
            </a:r>
            <a:r>
              <a:rPr sz="1040" b="0">
                <a:solidFill>
                  <a:srgbClr val="2B3A3F"/>
                </a:solidFill>
                <a:latin typeface="Calibri"/>
              </a:rPr>
              <a:t>20 VUs, 1 min, same SLO thresholds.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040" b="1">
                <a:solidFill>
                  <a:srgbClr val="12707F"/>
                </a:solidFill>
                <a:latin typeface="Calibri"/>
              </a:rPr>
              <a:t>›  </a:t>
            </a:r>
            <a:r>
              <a:rPr sz="1040" b="1">
                <a:solidFill>
                  <a:srgbClr val="0A3A45"/>
                </a:solidFill>
                <a:latin typeface="Calibri"/>
              </a:rPr>
              <a:t>Wire to CI — </a:t>
            </a:r>
            <a:r>
              <a:rPr sz="1040" b="0">
                <a:solidFill>
                  <a:srgbClr val="2B3A3F"/>
                </a:solidFill>
                <a:latin typeface="Calibri"/>
              </a:rPr>
              <a:t>perf.yml runs it on every PR.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040" b="1">
                <a:solidFill>
                  <a:srgbClr val="12707F"/>
                </a:solidFill>
                <a:latin typeface="Calibri"/>
              </a:rPr>
              <a:t>›  </a:t>
            </a:r>
            <a:r>
              <a:rPr sz="1040" b="1">
                <a:solidFill>
                  <a:srgbClr val="0A3A45"/>
                </a:solidFill>
                <a:latin typeface="Calibri"/>
              </a:rPr>
              <a:t>Prove it bites — </a:t>
            </a:r>
            <a:r>
              <a:rPr sz="1040" b="0">
                <a:solidFill>
                  <a:srgbClr val="2B3A3F"/>
                </a:solidFill>
                <a:latin typeface="Calibri"/>
              </a:rPr>
              <a:t>add a slow path, show the RED check.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040" b="1">
                <a:solidFill>
                  <a:srgbClr val="12707F"/>
                </a:solidFill>
                <a:latin typeface="Calibri"/>
              </a:rPr>
              <a:t>›  </a:t>
            </a:r>
            <a:r>
              <a:rPr sz="1040" b="1">
                <a:solidFill>
                  <a:srgbClr val="0A3A45"/>
                </a:solidFill>
                <a:latin typeface="Calibri"/>
              </a:rPr>
              <a:t>Then fix — </a:t>
            </a:r>
            <a:r>
              <a:rPr sz="1040" b="0">
                <a:solidFill>
                  <a:srgbClr val="2B3A3F"/>
                </a:solidFill>
                <a:latin typeface="Calibri"/>
              </a:rPr>
              <a:t>remove it, show the GREEN check.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1170432"/>
            <a:ext cx="4069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E8871E"/>
                </a:solidFill>
                <a:latin typeface="Calibri"/>
              </a:rPr>
              <a:t>EXAMPLE — ci-gate.js + perf.yml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463040"/>
            <a:ext cx="4069080" cy="2788920"/>
          </a:xfrm>
          <a:prstGeom prst="roundRect">
            <a:avLst>
              <a:gd name="adj" fmla="val 4000"/>
            </a:avLst>
          </a:prstGeom>
          <a:solidFill>
            <a:srgbClr val="0E2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591056"/>
            <a:ext cx="3721608" cy="2551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7FB7A8"/>
                </a:solidFill>
                <a:latin typeface="Consolas"/>
              </a:rPr>
              <a:t>// ci-gate.js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6F0F1"/>
                </a:solidFill>
                <a:latin typeface="Consolas"/>
              </a:rPr>
              <a:t>scenarios:{ ci_smoke:{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6F0F1"/>
                </a:solidFill>
                <a:latin typeface="Consolas"/>
              </a:rPr>
              <a:t>  executor:"constant-vus",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6F0F1"/>
                </a:solidFill>
                <a:latin typeface="Consolas"/>
              </a:rPr>
              <a:t>  vus:20, duration:"1m" }},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6F0F1"/>
                </a:solidFill>
                <a:latin typeface="Consolas"/>
              </a:rPr>
              <a:t>thresholds  // SLO contract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6F0F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7FB7A8"/>
                </a:solidFill>
                <a:latin typeface="Consolas"/>
              </a:rPr>
              <a:t># perf.yml (GitHub Actions)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6F0F1"/>
                </a:solidFill>
                <a:latin typeface="Consolas"/>
              </a:rPr>
              <a:t>run: k6 run k6/ci-gate.js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7FB7A8"/>
                </a:solidFill>
                <a:latin typeface="Consolas"/>
              </a:rPr>
              <a:t>// exit 1 on breach -&gt; PR blocked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343400"/>
            <a:ext cx="8229600" cy="457200"/>
          </a:xfrm>
          <a:prstGeom prst="roundRect">
            <a:avLst>
              <a:gd name="adj" fmla="val 14000"/>
            </a:avLst>
          </a:prstGeom>
          <a:solidFill>
            <a:srgbClr val="0A3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4343400"/>
            <a:ext cx="7772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E8871E"/>
                </a:solidFill>
                <a:latin typeface="Calibri"/>
              </a:rPr>
              <a:t>DELIVERABLE   </a:t>
            </a:r>
            <a:r>
              <a:rPr sz="1000" b="0">
                <a:solidFill>
                  <a:srgbClr val="FFFFFF"/>
                </a:solidFill>
                <a:latin typeface="Calibri"/>
              </a:rPr>
              <a:t>Screenshots of a FAILING check (slow path) and a PASSING check (fixed) on a PR.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55464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5B6B70"/>
                </a:solidFill>
                <a:latin typeface="Calibri"/>
              </a:rPr>
              <a:t>CS423 · CSC15003 — Software Testing (AI-First) · Performance Lab — eShop SUT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4855464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>
                <a:solidFill>
                  <a:srgbClr val="12707F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E8871E"/>
                </a:solidFill>
                <a:latin typeface="Calibri"/>
              </a:rPr>
              <a:t>LIVE DEMO ·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"/>
            <a:ext cx="841248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0A3A45"/>
                </a:solidFill>
                <a:latin typeface="Calibri Light"/>
              </a:rPr>
              <a:t>Run it in three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4124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>
                <a:solidFill>
                  <a:srgbClr val="5B6B70"/>
                </a:solidFill>
                <a:latin typeface="Calibri"/>
              </a:rPr>
              <a:t>Zero setup — the mock eShop plus k6 is enough to see every test type.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E8871E"/>
                </a:solidFill>
                <a:latin typeface="Calibri"/>
              </a:rPr>
              <a:t>TERMINAL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8229600" cy="1965960"/>
          </a:xfrm>
          <a:prstGeom prst="roundRect">
            <a:avLst>
              <a:gd name="adj" fmla="val 4000"/>
            </a:avLst>
          </a:prstGeom>
          <a:solidFill>
            <a:srgbClr val="0E2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73936"/>
            <a:ext cx="7882127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7FB7A8"/>
                </a:solidFill>
                <a:latin typeface="Consolas"/>
              </a:rPr>
              <a:t># 1) install k6  (https://grafana.com/docs/k6/latest/set-up/install-k6/)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7FB7A8"/>
                </a:solidFill>
                <a:latin typeface="Consolas"/>
              </a:rPr>
              <a:t># 2) start the SUT (mock eShop) in one terminal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6F0F1"/>
                </a:solidFill>
                <a:latin typeface="Consolas"/>
              </a:rPr>
              <a:t>node mock/server.js            # -&gt; http://localhost:5000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7FB7A8"/>
                </a:solidFill>
                <a:latin typeface="Consolas"/>
              </a:rPr>
              <a:t># 3) in another terminal, run the tests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6F0F1"/>
                </a:solidFill>
                <a:latin typeface="Consolas"/>
              </a:rPr>
              <a:t>k6 run k6/00-smoke.js                     # sanity first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6F0F1"/>
                </a:solidFill>
                <a:latin typeface="Consolas"/>
              </a:rPr>
              <a:t>k6 run -e BASE_URL=http://localhost:5000 k6/01-load.js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6F0F1"/>
                </a:solidFill>
                <a:latin typeface="Consolas"/>
              </a:rPr>
              <a:t>k6 run -e SOAK_HOLD=3m k6/04-soak.js      # short soak for the demo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40480"/>
            <a:ext cx="8229600" cy="685800"/>
          </a:xfrm>
          <a:prstGeom prst="roundRect">
            <a:avLst>
              <a:gd name="adj" fmla="val 10000"/>
            </a:avLst>
          </a:prstGeom>
          <a:solidFill>
            <a:srgbClr val="0A3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77724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E8871E"/>
                </a:solidFill>
                <a:latin typeface="Calibri"/>
              </a:rPr>
              <a:t>REAL eShop?   </a:t>
            </a:r>
            <a:r>
              <a:rPr sz="1030" b="0">
                <a:solidFill>
                  <a:srgbClr val="FFFFFF"/>
                </a:solidFill>
                <a:latin typeface="Calibri"/>
              </a:rPr>
              <a:t>swap the target: -e BASE_URL=http://localhost:&lt;port&gt;. Same scripts, your app. Edit lib/journey.js only if your endpoints differ.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55464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5B6B70"/>
                </a:solidFill>
                <a:latin typeface="Calibri"/>
              </a:rPr>
              <a:t>CS423 · CSC15003 — Software Testing (AI-First) · Performance Lab — eShop SUT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4855464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>
                <a:solidFill>
                  <a:srgbClr val="12707F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E8871E"/>
                </a:solidFill>
                <a:latin typeface="Calibri"/>
              </a:rPr>
              <a:t>LIVE DEMO ·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"/>
            <a:ext cx="841248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0A3A45"/>
                </a:solidFill>
                <a:latin typeface="Calibri Light"/>
              </a:rPr>
              <a:t>Read the k6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4124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>
                <a:solidFill>
                  <a:srgbClr val="5B6B70"/>
                </a:solidFill>
                <a:latin typeface="Calibri"/>
              </a:rPr>
              <a:t>This is a real run of the smoke test against the mock — here's what to look 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257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E8871E"/>
                </a:solidFill>
                <a:latin typeface="Calibri"/>
              </a:rPr>
              <a:t>ACTUAL 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5257800" cy="2788920"/>
          </a:xfrm>
          <a:prstGeom prst="roundRect">
            <a:avLst>
              <a:gd name="adj" fmla="val 4000"/>
            </a:avLst>
          </a:prstGeom>
          <a:solidFill>
            <a:srgbClr val="0E2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73936"/>
            <a:ext cx="4910328" cy="2551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6F0F1"/>
                </a:solidFill>
                <a:latin typeface="Consolas"/>
              </a:rPr>
              <a:t>checks.................: 100.00% 24/24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8871E"/>
                </a:solidFill>
                <a:latin typeface="Consolas"/>
              </a:rPr>
              <a:t>http_req_duration......: p(95)=168ms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6F0F1"/>
                </a:solidFill>
                <a:latin typeface="Consolas"/>
              </a:rPr>
              <a:t>  { step:checkout }....: p(95)=197ms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8871E"/>
                </a:solidFill>
                <a:latin typeface="Consolas"/>
              </a:rPr>
              <a:t>http_req_failed........: 0.00%  0/18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6F0F1"/>
                </a:solidFill>
                <a:latin typeface="Consolas"/>
              </a:rPr>
              <a:t>journey_duration.......: avg=9.48s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6F0F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7FB7A8"/>
                </a:solidFill>
                <a:latin typeface="Consolas"/>
              </a:rPr>
              <a:t>// ci-gate, 20 VUs, 1m: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8871E"/>
                </a:solidFill>
                <a:latin typeface="Consolas"/>
              </a:rPr>
              <a:t>checks.................: 100.00% 960/960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8871E"/>
                </a:solidFill>
                <a:latin typeface="Consolas"/>
              </a:rPr>
              <a:t>http_req_duration......: p(95)=216ms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19" b="0">
                <a:solidFill>
                  <a:srgbClr val="E6F0F1"/>
                </a:solidFill>
                <a:latin typeface="Consolas"/>
              </a:rPr>
              <a:t>iterations.............: 120  (1.70/s)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78308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E8871E"/>
                </a:solidFill>
                <a:latin typeface="Calibri"/>
              </a:rPr>
              <a:t>WHAT TO LOOK 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2194560"/>
            <a:ext cx="28346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960" b="1">
                <a:solidFill>
                  <a:srgbClr val="12707F"/>
                </a:solidFill>
                <a:latin typeface="Calibri"/>
              </a:rPr>
              <a:t>›  </a:t>
            </a:r>
            <a:r>
              <a:rPr sz="960" b="1">
                <a:solidFill>
                  <a:srgbClr val="0A3A45"/>
                </a:solidFill>
                <a:latin typeface="Calibri"/>
              </a:rPr>
              <a:t>p(95)/p(99) — </a:t>
            </a:r>
            <a:r>
              <a:rPr sz="960" b="0">
                <a:solidFill>
                  <a:srgbClr val="2B3A3F"/>
                </a:solidFill>
                <a:latin typeface="Calibri"/>
              </a:rPr>
              <a:t>the distribution, not the mean.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960" b="1">
                <a:solidFill>
                  <a:srgbClr val="12707F"/>
                </a:solidFill>
                <a:latin typeface="Calibri"/>
              </a:rPr>
              <a:t>›  </a:t>
            </a:r>
            <a:r>
              <a:rPr sz="960" b="1">
                <a:solidFill>
                  <a:srgbClr val="0A3A45"/>
                </a:solidFill>
                <a:latin typeface="Calibri"/>
              </a:rPr>
              <a:t>http_req_failed — </a:t>
            </a:r>
            <a:r>
              <a:rPr sz="960" b="0">
                <a:solidFill>
                  <a:srgbClr val="2B3A3F"/>
                </a:solidFill>
                <a:latin typeface="Calibri"/>
              </a:rPr>
              <a:t>error rate vs the SLO.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960" b="1">
                <a:solidFill>
                  <a:srgbClr val="12707F"/>
                </a:solidFill>
                <a:latin typeface="Calibri"/>
              </a:rPr>
              <a:t>›  </a:t>
            </a:r>
            <a:r>
              <a:rPr sz="960" b="1">
                <a:solidFill>
                  <a:srgbClr val="0A3A45"/>
                </a:solidFill>
                <a:latin typeface="Calibri"/>
              </a:rPr>
              <a:t>{step:checkout} — </a:t>
            </a:r>
            <a:r>
              <a:rPr sz="960" b="0">
                <a:solidFill>
                  <a:srgbClr val="2B3A3F"/>
                </a:solidFill>
                <a:latin typeface="Calibri"/>
              </a:rPr>
              <a:t>the money path's own budget.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960" b="1">
                <a:solidFill>
                  <a:srgbClr val="12707F"/>
                </a:solidFill>
                <a:latin typeface="Calibri"/>
              </a:rPr>
              <a:t>›  </a:t>
            </a:r>
            <a:r>
              <a:rPr sz="960" b="1">
                <a:solidFill>
                  <a:srgbClr val="0A3A45"/>
                </a:solidFill>
                <a:latin typeface="Calibri"/>
              </a:rPr>
              <a:t>checks — </a:t>
            </a:r>
            <a:r>
              <a:rPr sz="960" b="0">
                <a:solidFill>
                  <a:srgbClr val="2B3A3F"/>
                </a:solidFill>
                <a:latin typeface="Calibri"/>
              </a:rPr>
              <a:t>did it stay correct under load?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960" b="1">
                <a:solidFill>
                  <a:srgbClr val="12707F"/>
                </a:solidFill>
                <a:latin typeface="Calibri"/>
              </a:rPr>
              <a:t>›  </a:t>
            </a:r>
            <a:r>
              <a:rPr sz="960" b="1">
                <a:solidFill>
                  <a:srgbClr val="0A3A45"/>
                </a:solidFill>
                <a:latin typeface="Calibri"/>
              </a:rPr>
              <a:t>exit code — </a:t>
            </a:r>
            <a:r>
              <a:rPr sz="960" b="0">
                <a:solidFill>
                  <a:srgbClr val="2B3A3F"/>
                </a:solidFill>
                <a:latin typeface="Calibri"/>
              </a:rPr>
              <a:t>non-zero = a breached SLO.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55464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5B6B70"/>
                </a:solidFill>
                <a:latin typeface="Calibri"/>
              </a:rPr>
              <a:t>CS423 · CSC15003 — Software Testing (AI-First) · Performance Lab — eShop SUT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4855464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>
                <a:solidFill>
                  <a:srgbClr val="12707F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E8871E"/>
                </a:solidFill>
                <a:latin typeface="Calibri"/>
              </a:rPr>
              <a:t>AI-FIRST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"/>
            <a:ext cx="841248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0A3A45"/>
                </a:solidFill>
                <a:latin typeface="Calibri Light"/>
              </a:rPr>
              <a:t>AI drafts and explains — you decide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4124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>
                <a:solidFill>
                  <a:srgbClr val="5B6B70"/>
                </a:solidFill>
                <a:latin typeface="Calibri"/>
              </a:rPr>
              <a:t>Required, not forbidden. Own the result; log where AI helped and what you fixed.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2651760" cy="2286000"/>
          </a:xfrm>
          <a:prstGeom prst="roundRect">
            <a:avLst>
              <a:gd name="adj" fmla="val 6000"/>
            </a:avLst>
          </a:prstGeom>
          <a:solidFill>
            <a:srgbClr val="ED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1">
                <a:solidFill>
                  <a:srgbClr val="12707F"/>
                </a:solidFill>
                <a:latin typeface="Calibri"/>
              </a:rPr>
              <a:t>AI drafts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87168"/>
            <a:ext cx="2286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2B3A3F"/>
                </a:solidFill>
                <a:latin typeface="Calibri"/>
              </a:rPr>
              <a:t>Turn the API contract or a user story into a k6 scenario you then review.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58444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584448"/>
            <a:ext cx="1051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draft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1737360"/>
            <a:ext cx="2651760" cy="2286000"/>
          </a:xfrm>
          <a:prstGeom prst="roundRect">
            <a:avLst>
              <a:gd name="adj" fmla="val 6000"/>
            </a:avLst>
          </a:prstGeom>
          <a:solidFill>
            <a:srgbClr val="ED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92024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1">
                <a:solidFill>
                  <a:srgbClr val="12707F"/>
                </a:solidFill>
                <a:latin typeface="Calibri"/>
              </a:rPr>
              <a:t>AI explains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487168"/>
            <a:ext cx="2286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2B3A3F"/>
                </a:solidFill>
                <a:latin typeface="Calibri"/>
              </a:rPr>
              <a:t>Ask it to read a percentile chart and rank bottleneck hypotheses.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358444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3584448"/>
            <a:ext cx="1051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explain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1737360"/>
            <a:ext cx="2651760" cy="2286000"/>
          </a:xfrm>
          <a:prstGeom prst="roundRect">
            <a:avLst>
              <a:gd name="adj" fmla="val 6000"/>
            </a:avLst>
          </a:prstGeom>
          <a:solidFill>
            <a:srgbClr val="ED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92024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1">
                <a:solidFill>
                  <a:srgbClr val="12707F"/>
                </a:solidFill>
                <a:latin typeface="Calibri"/>
              </a:rPr>
              <a:t>You judge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487168"/>
            <a:ext cx="2286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2B3A3F"/>
                </a:solidFill>
                <a:latin typeface="Calibri"/>
              </a:rPr>
              <a:t>You set the SLOs, choose the workload mix, and decide pass/fail.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58444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3584448"/>
            <a:ext cx="1051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you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0A3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160520"/>
            <a:ext cx="7772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E8871E"/>
                </a:solidFill>
                <a:latin typeface="Calibri"/>
              </a:rPr>
              <a:t>REQUIRED   </a:t>
            </a:r>
            <a:r>
              <a:rPr sz="1030" b="0">
                <a:solidFill>
                  <a:srgbClr val="FFFFFF"/>
                </a:solidFill>
                <a:latin typeface="Calibri"/>
              </a:rPr>
              <a:t>Include an 'AI log': where AI helped, two things you fixed or rejected, and the calls you owned.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855464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5B6B70"/>
                </a:solidFill>
                <a:latin typeface="Calibri"/>
              </a:rPr>
              <a:t>CS423 · CSC15003 — Software Testing (AI-First) · Performance Lab — eShop SUT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855464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>
                <a:solidFill>
                  <a:srgbClr val="12707F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E8871E"/>
                </a:solidFill>
                <a:latin typeface="Calibri"/>
              </a:rPr>
              <a:t>WHAT TO SUBMIT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"/>
            <a:ext cx="841248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0A3A45"/>
                </a:solidFill>
                <a:latin typeface="Calibri Light"/>
              </a:rPr>
              <a:t>Deliverables &amp; grading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4124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>
                <a:solidFill>
                  <a:srgbClr val="5B6B70"/>
                </a:solidFill>
                <a:latin typeface="Calibri"/>
              </a:rPr>
              <a:t>One zip; the report carries the marks — evidence and verdicts, not adjectives.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3977639" cy="2743200"/>
          </a:xfrm>
          <a:prstGeom prst="roundRect">
            <a:avLst>
              <a:gd name="adj" fmla="val 6000"/>
            </a:avLst>
          </a:prstGeom>
          <a:solidFill>
            <a:srgbClr val="ED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83664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E8871E"/>
                </a:solidFill>
                <a:latin typeface="Calibri"/>
              </a:rPr>
              <a:t>DELIVERABLES (zip)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86000"/>
            <a:ext cx="35661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980" b="1">
                <a:solidFill>
                  <a:srgbClr val="12707F"/>
                </a:solidFill>
                <a:latin typeface="Calibri"/>
              </a:rPr>
              <a:t>›  </a:t>
            </a:r>
            <a:r>
              <a:rPr sz="980" b="1">
                <a:solidFill>
                  <a:srgbClr val="0A3A45"/>
                </a:solidFill>
                <a:latin typeface="Calibri"/>
              </a:rPr>
              <a:t>report.pdf — </a:t>
            </a:r>
            <a:r>
              <a:rPr sz="980" b="0">
                <a:solidFill>
                  <a:srgbClr val="2B3A3F"/>
                </a:solidFill>
                <a:latin typeface="Calibri"/>
              </a:rPr>
              <a:t>one section per task, evidence + verdict + AI log.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980" b="1">
                <a:solidFill>
                  <a:srgbClr val="12707F"/>
                </a:solidFill>
                <a:latin typeface="Calibri"/>
              </a:rPr>
              <a:t>›  </a:t>
            </a:r>
            <a:r>
              <a:rPr sz="980" b="1">
                <a:solidFill>
                  <a:srgbClr val="0A3A45"/>
                </a:solidFill>
                <a:latin typeface="Calibri"/>
              </a:rPr>
              <a:t>k6/ — </a:t>
            </a:r>
            <a:r>
              <a:rPr sz="980" b="0">
                <a:solidFill>
                  <a:srgbClr val="2B3A3F"/>
                </a:solidFill>
                <a:latin typeface="Calibri"/>
              </a:rPr>
              <a:t>your edited scripts and config.js.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980" b="1">
                <a:solidFill>
                  <a:srgbClr val="12707F"/>
                </a:solidFill>
                <a:latin typeface="Calibri"/>
              </a:rPr>
              <a:t>›  </a:t>
            </a:r>
            <a:r>
              <a:rPr sz="980" b="1">
                <a:solidFill>
                  <a:srgbClr val="0A3A45"/>
                </a:solidFill>
                <a:latin typeface="Calibri"/>
              </a:rPr>
              <a:t>CI evidence — </a:t>
            </a:r>
            <a:r>
              <a:rPr sz="980" b="0">
                <a:solidFill>
                  <a:srgbClr val="2B3A3F"/>
                </a:solidFill>
                <a:latin typeface="Calibri"/>
              </a:rPr>
              <a:t>perf.yml + red/green PR screenshots.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980" b="1">
                <a:solidFill>
                  <a:srgbClr val="12707F"/>
                </a:solidFill>
                <a:latin typeface="Calibri"/>
              </a:rPr>
              <a:t>›  </a:t>
            </a:r>
            <a:r>
              <a:rPr sz="980" b="1">
                <a:solidFill>
                  <a:srgbClr val="0A3A45"/>
                </a:solidFill>
                <a:latin typeface="Calibri"/>
              </a:rPr>
              <a:t>SUT.md — </a:t>
            </a:r>
            <a:r>
              <a:rPr sz="980" b="0">
                <a:solidFill>
                  <a:srgbClr val="2B3A3F"/>
                </a:solidFill>
                <a:latin typeface="Calibri"/>
              </a:rPr>
              <a:t>which target, how to reproduce.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1691640"/>
            <a:ext cx="3977639" cy="2743200"/>
          </a:xfrm>
          <a:prstGeom prst="roundRect">
            <a:avLst>
              <a:gd name="adj" fmla="val 6000"/>
            </a:avLst>
          </a:prstGeom>
          <a:solidFill>
            <a:srgbClr val="ED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1883664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E8871E"/>
                </a:solidFill>
                <a:latin typeface="Calibri"/>
              </a:rPr>
              <a:t>RUBRIC (100 pts)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286000"/>
            <a:ext cx="35661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980" b="1">
                <a:solidFill>
                  <a:srgbClr val="E8871E"/>
                </a:solidFill>
                <a:latin typeface="Calibri"/>
              </a:rPr>
              <a:t>›  </a:t>
            </a:r>
            <a:r>
              <a:rPr sz="980" b="1">
                <a:solidFill>
                  <a:srgbClr val="0A3A45"/>
                </a:solidFill>
                <a:latin typeface="Calibri"/>
              </a:rPr>
              <a:t>Load 20 · Stress 15 — </a:t>
            </a:r>
            <a:r>
              <a:rPr sz="980" b="0">
                <a:solidFill>
                  <a:srgbClr val="2B3A3F"/>
                </a:solidFill>
                <a:latin typeface="Calibri"/>
              </a:rPr>
              <a:t>model + failure mode.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980" b="1">
                <a:solidFill>
                  <a:srgbClr val="E8871E"/>
                </a:solidFill>
                <a:latin typeface="Calibri"/>
              </a:rPr>
              <a:t>›  </a:t>
            </a:r>
            <a:r>
              <a:rPr sz="980" b="1">
                <a:solidFill>
                  <a:srgbClr val="0A3A45"/>
                </a:solidFill>
                <a:latin typeface="Calibri"/>
              </a:rPr>
              <a:t>Spike 10 · Soak 10 — </a:t>
            </a:r>
            <a:r>
              <a:rPr sz="980" b="0">
                <a:solidFill>
                  <a:srgbClr val="2B3A3F"/>
                </a:solidFill>
                <a:latin typeface="Calibri"/>
              </a:rPr>
              <a:t>recovery + drift.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980" b="1">
                <a:solidFill>
                  <a:srgbClr val="E8871E"/>
                </a:solidFill>
                <a:latin typeface="Calibri"/>
              </a:rPr>
              <a:t>›  </a:t>
            </a:r>
            <a:r>
              <a:rPr sz="980" b="1">
                <a:solidFill>
                  <a:srgbClr val="0A3A45"/>
                </a:solidFill>
                <a:latin typeface="Calibri"/>
              </a:rPr>
              <a:t>Capacity 15 · CI 15 — </a:t>
            </a:r>
            <a:r>
              <a:rPr sz="980" b="0">
                <a:solidFill>
                  <a:srgbClr val="2B3A3F"/>
                </a:solidFill>
                <a:latin typeface="Calibri"/>
              </a:rPr>
              <a:t>scaling + real gate.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980" b="1">
                <a:solidFill>
                  <a:srgbClr val="E8871E"/>
                </a:solidFill>
                <a:latin typeface="Calibri"/>
              </a:rPr>
              <a:t>›  </a:t>
            </a:r>
            <a:r>
              <a:rPr sz="980" b="1">
                <a:solidFill>
                  <a:srgbClr val="0A3A45"/>
                </a:solidFill>
                <a:latin typeface="Calibri"/>
              </a:rPr>
              <a:t>Report 10 · Setup 5 — </a:t>
            </a:r>
            <a:r>
              <a:rPr sz="980" b="0">
                <a:solidFill>
                  <a:srgbClr val="2B3A3F"/>
                </a:solidFill>
                <a:latin typeface="Calibri"/>
              </a:rPr>
              <a:t>percentiles, evidence.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980" b="1">
                <a:solidFill>
                  <a:srgbClr val="E8871E"/>
                </a:solidFill>
                <a:latin typeface="Calibri"/>
              </a:rPr>
              <a:t>›  </a:t>
            </a:r>
            <a:r>
              <a:rPr sz="980" b="1">
                <a:solidFill>
                  <a:srgbClr val="0A3A45"/>
                </a:solidFill>
                <a:latin typeface="Calibri"/>
              </a:rPr>
              <a:t>Bonus +10 — </a:t>
            </a:r>
            <a:r>
              <a:rPr sz="980" b="0">
                <a:solidFill>
                  <a:srgbClr val="2B3A3F"/>
                </a:solidFill>
                <a:latin typeface="Calibri"/>
              </a:rPr>
              <a:t>frontend Core Web Vitals.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855464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5B6B70"/>
                </a:solidFill>
                <a:latin typeface="Calibri"/>
              </a:rPr>
              <a:t>CS423 · CSC15003 — Software Testing (AI-First) · Performance Lab — eShop SUT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4855464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>
                <a:solidFill>
                  <a:srgbClr val="12707F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3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79552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8871E"/>
                </a:solidFill>
                <a:latin typeface="Calibri"/>
              </a:rPr>
              <a:t>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41832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 Light"/>
              </a:rPr>
              <a:t>Prove it fast — with evidence, in 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12064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>
                <a:solidFill>
                  <a:srgbClr val="ECF4F5"/>
                </a:solidFill>
                <a:latin typeface="Calibri"/>
              </a:rPr>
              <a:t>• One journey, six load shapes, one SLO contract.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ECF4F5"/>
                </a:solidFill>
                <a:latin typeface="Calibri"/>
              </a:rPr>
              <a:t>• Report p95/p99 and the failure mode, not the mean.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ECF4F5"/>
                </a:solidFill>
                <a:latin typeface="Calibri"/>
              </a:rPr>
              <a:t>• Find the breakpoint; prove it scales.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ECF4F5"/>
                </a:solidFill>
                <a:latin typeface="Calibri"/>
              </a:rPr>
              <a:t>• A regression must break the build in CI.</a:t>
            </a:r>
          </a:p>
          <a:p>
            <a:pPr algn="l"/>
            <a:r>
              <a:rPr sz="1150" b="1">
                <a:solidFill>
                  <a:srgbClr val="E8871E"/>
                </a:solidFill>
                <a:latin typeface="Calibri"/>
              </a:rPr>
              <a:t>• AI drafts &amp; explains; you set targets &amp; judge.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1737360"/>
            <a:ext cx="2834640" cy="2697480"/>
          </a:xfrm>
          <a:prstGeom prst="roundRect">
            <a:avLst>
              <a:gd name="adj" fmla="val 5000"/>
            </a:avLst>
          </a:prstGeom>
          <a:solidFill>
            <a:srgbClr val="0E2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80760" y="192024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E8871E"/>
                </a:solidFill>
                <a:latin typeface="Calibri"/>
              </a:rPr>
              <a:t>RUN IT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2286000"/>
            <a:ext cx="242316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E6F0F1"/>
                </a:solidFill>
                <a:latin typeface="Consolas"/>
              </a:rPr>
              <a:t>node mock/server.js</a:t>
            </a:r>
          </a:p>
          <a:p>
            <a:pPr algn="l">
              <a:spcAft>
                <a:spcPts val="600"/>
              </a:spcAft>
            </a:pPr>
            <a:r>
              <a:rPr sz="900" b="0">
                <a:solidFill>
                  <a:srgbClr val="E6F0F1"/>
                </a:solidFill>
                <a:latin typeface="Consolas"/>
              </a:rPr>
              <a:t>k6 run k6/00-smoke.js</a:t>
            </a:r>
          </a:p>
          <a:p>
            <a:pPr algn="l">
              <a:spcAft>
                <a:spcPts val="600"/>
              </a:spcAft>
            </a:pPr>
            <a:r>
              <a:rPr sz="900" b="0">
                <a:solidFill>
                  <a:srgbClr val="E6F0F1"/>
                </a:solidFill>
                <a:latin typeface="Consolas"/>
              </a:rPr>
              <a:t>k6 run k6/01-load.js</a:t>
            </a:r>
          </a:p>
          <a:p>
            <a:pPr algn="l"/>
            <a:r>
              <a:rPr sz="900" b="0">
                <a:solidFill>
                  <a:srgbClr val="7FB7A8"/>
                </a:solidFill>
                <a:latin typeface="Calibri"/>
              </a:rPr>
              <a:t>README.md has it 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26280"/>
            <a:ext cx="8138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D5E4E7"/>
                </a:solidFill>
                <a:latin typeface="Calibri"/>
              </a:rPr>
              <a:t>Deliverable: a k6 suite for eShop — load + stress + soak + a CI gate on p95, with an AI log.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